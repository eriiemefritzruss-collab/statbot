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7"/>
  </p:notesMasterIdLst>
  <p:sldIdLst>
    <p:sldId id="256" r:id="rId3"/>
    <p:sldId id="287" r:id="rId4"/>
    <p:sldId id="269" r:id="rId5"/>
    <p:sldId id="273" r:id="rId6"/>
    <p:sldId id="274" r:id="rId8"/>
    <p:sldId id="298" r:id="rId9"/>
    <p:sldId id="299" r:id="rId10"/>
    <p:sldId id="300" r:id="rId11"/>
    <p:sldId id="288" r:id="rId12"/>
    <p:sldId id="301" r:id="rId13"/>
    <p:sldId id="302" r:id="rId14"/>
  </p:sldIdLst>
  <p:sldSz cx="12192000" cy="6858000"/>
  <p:notesSz cx="6858000" cy="9144000"/>
  <p:defaultTextStyle>
    <a:lvl1pPr marL="0" algn="l" rtl="0" latinLnBrk="0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02" userDrawn="1">
          <p15:clr>
            <a:srgbClr val="A4A3A4"/>
          </p15:clr>
        </p15:guide>
        <p15:guide id="2" pos="28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87621" autoAdjust="0"/>
  </p:normalViewPr>
  <p:slideViewPr>
    <p:cSldViewPr showGuides="1">
      <p:cViewPr varScale="1">
        <p:scale>
          <a:sx n="77" d="100"/>
          <a:sy n="77" d="100"/>
        </p:scale>
        <p:origin x="679" y="55"/>
      </p:cViewPr>
      <p:guideLst>
        <p:guide orient="horz" pos="1602"/>
        <p:guide pos="288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5F4B14-C5AB-429C-8909-41332A3D30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0B30B0-0644-4E62-8516-25B12200C76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幻灯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/>
          <a:lstStyle>
            <a:lvl1pPr marL="0" indent="0" algn="l" latinLnBrk="0">
              <a:buNone/>
              <a:defRPr lang="zh-CN" sz="2800">
                <a:solidFill>
                  <a:srgbClr val="FFFFFF"/>
                </a:solidFill>
              </a:defRPr>
            </a:lvl1pPr>
            <a:lvl2pPr marL="457200" indent="0" algn="ctr" latinLnBrk="0">
              <a:buNone/>
            </a:lvl2pPr>
            <a:lvl3pPr marL="914400" indent="0" algn="ctr" latinLnBrk="0">
              <a:buNone/>
            </a:lvl3pPr>
            <a:lvl4pPr marL="1371600" indent="0" algn="ctr" latinLnBrk="0">
              <a:buNone/>
            </a:lvl4pPr>
            <a:lvl5pPr marL="1828800" indent="0" algn="ctr" latinLnBrk="0">
              <a:buNone/>
            </a:lvl5pPr>
            <a:lvl6pPr marL="2286000" indent="0" algn="ctr" latinLnBrk="0">
              <a:buNone/>
            </a:lvl6pPr>
            <a:lvl7pPr marL="2743200" indent="0" algn="ctr" latinLnBrk="0">
              <a:buNone/>
            </a:lvl7pPr>
            <a:lvl8pPr marL="3200400" indent="0" algn="ctr" latinLnBrk="0">
              <a:buNone/>
            </a:lvl8pPr>
            <a:lvl9pPr marL="3657600" indent="0" algn="ctr" latinLnBrk="0">
              <a:buNone/>
            </a:lvl9pPr>
          </a:lstStyle>
          <a:p>
            <a:r>
              <a:rPr lang="zh-CN"/>
              <a:t>单击此处编辑母版副标题样式</a:t>
            </a:r>
            <a:endParaRPr lang="zh-CN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</p:spPr>
        <p:txBody>
          <a:bodyPr>
            <a:noAutofit/>
          </a:bodyPr>
          <a:lstStyle>
            <a:lvl1pPr algn="ctr" latinLnBrk="0">
              <a:defRPr lang="zh-CN" sz="2000">
                <a:solidFill>
                  <a:srgbClr val="FFFFFF"/>
                </a:solidFill>
              </a:defRPr>
            </a:lvl1pPr>
          </a:lstStyle>
          <a:p>
            <a:pPr algn="ctr"/>
            <a:fld id="{047E157E-8DCB-4F70-A0AF-5EB586A91DD4}" type="datetime1">
              <a:rPr lang="en-US" altLang="zh-CN">
                <a:solidFill>
                  <a:srgbClr val="FFFFFF"/>
                </a:solidFill>
              </a:rPr>
            </a:fld>
            <a:endParaRPr lang="zh-CN" sz="200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177404"/>
            <a:ext cx="5867400" cy="273844"/>
          </a:xfrm>
        </p:spPr>
        <p:txBody>
          <a:bodyPr/>
          <a:lstStyle>
            <a:lvl1pPr algn="r" latinLnBrk="0">
              <a:defRPr lang="zh-CN">
                <a:solidFill>
                  <a:schemeClr val="tx2"/>
                </a:solidFill>
              </a:defRPr>
            </a:lvl1pPr>
          </a:lstStyle>
          <a:p>
            <a:pPr algn="r"/>
            <a:endParaRPr lang="zh-CN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171450"/>
            <a:ext cx="838200" cy="285750"/>
          </a:xfrm>
        </p:spPr>
        <p:txBody>
          <a:bodyPr/>
          <a:lstStyle>
            <a:lvl1pPr latinLnBrk="0">
              <a:defRPr lang="zh-CN">
                <a:solidFill>
                  <a:schemeClr val="tx2"/>
                </a:solidFill>
              </a:defRPr>
            </a:lvl1pPr>
          </a:lstStyle>
          <a:p>
            <a:fld id="{8F82E0A0-C266-4798-8C8F-B9F91E9DA37E}" type="slidenum">
              <a:rPr lang="zh-CN">
                <a:solidFill>
                  <a:schemeClr val="tx2"/>
                </a:solidFill>
              </a:rPr>
            </a:fld>
            <a:endParaRPr lang="zh-CN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/>
          <a:lstStyle>
            <a:lvl1pPr latinLnBrk="0">
              <a:defRPr lang="zh-CN" cap="all" baseline="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EA6-EFEA-4C30-9264-4F9291A5780D}" type="datetime1">
              <a:rPr/>
            </a:fld>
            <a:endParaRPr lang="zh-CN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zh-CN" sz="1400" b="1">
                <a:solidFill>
                  <a:srgbClr val="FFFFFF"/>
                </a:solidFill>
              </a:rPr>
            </a:fld>
            <a:endParaRPr lang="zh-CN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 latinLnBrk="0">
              <a:buNone/>
              <a:defRPr lang="zh-CN" sz="2800">
                <a:solidFill>
                  <a:schemeClr val="tx2"/>
                </a:solidFill>
              </a:defRPr>
            </a:lvl1pPr>
            <a:lvl2pPr latinLnBrk="0">
              <a:buNone/>
              <a:defRPr lang="zh-CN" sz="1800">
                <a:solidFill>
                  <a:schemeClr val="tx1">
                    <a:tint val="75000"/>
                  </a:schemeClr>
                </a:solidFill>
              </a:defRPr>
            </a:lvl2pPr>
            <a:lvl3pPr latinLnBrk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3pPr>
            <a:lvl4pPr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4pPr>
            <a:lvl5pPr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 latinLnBrk="0">
              <a:buNone/>
              <a:defRPr lang="zh-CN" sz="4400" b="0" cap="none">
                <a:solidFill>
                  <a:srgbClr val="FFFFFF"/>
                </a:solidFill>
              </a:defRPr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9F07-3BC7-4570-B054-79111B0A380C}" type="datetime1">
              <a:rPr/>
            </a:fld>
            <a:endParaRPr lang="zh-CN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 latinLnBrk="0">
              <a:defRPr lang="zh-CN" sz="2400">
                <a:solidFill>
                  <a:srgbClr val="FFFFFF"/>
                </a:solidFill>
              </a:defRPr>
            </a:lvl1pPr>
          </a:lstStyle>
          <a:p>
            <a:pPr algn="ctr"/>
            <a:fld id="{8F82E0A0-C266-4798-8C8F-B9F91E9DA37E}" type="slidenum">
              <a:rPr lang="zh-CN" sz="2400" b="1">
                <a:solidFill>
                  <a:srgbClr val="FFFFFF"/>
                </a:solidFill>
              </a:rPr>
            </a:fld>
            <a:endParaRPr lang="zh-CN" sz="240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rPr/>
            </a:fld>
            <a:endParaRPr lang="zh-C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zh-CN" sz="1400" b="1">
                <a:solidFill>
                  <a:srgbClr val="FFFFFF"/>
                </a:solidFill>
              </a:rPr>
            </a:fld>
            <a:endParaRPr lang="zh-CN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 latinLnBrk="0">
              <a:defRPr lang="zh-CN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rPr/>
            </a:fld>
            <a:endParaRPr lang="zh-C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zh-CN" sz="1400" b="1">
                <a:solidFill>
                  <a:srgbClr val="FFFFFF"/>
                </a:solidFill>
              </a:rPr>
            </a:fld>
            <a:endParaRPr lang="zh-CN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CN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/>
          <a:lstStyle>
            <a:lvl1pPr latinLnBrk="0">
              <a:buFontTx/>
              <a:buNone/>
              <a:defRPr lang="zh-CN"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/>
          <a:lstStyle>
            <a:lvl1pPr latinLnBrk="0">
              <a:buFontTx/>
              <a:buNone/>
              <a:defRPr lang="zh-CN"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DB5D-B7A0-47E3-AD2D-B1A6F8614213}" type="datetime1">
              <a:rPr/>
            </a:fld>
            <a:endParaRPr 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latinLnBrk="0">
              <a:defRPr lang="zh-CN">
                <a:solidFill>
                  <a:srgbClr val="FFFFFF"/>
                </a:solidFill>
              </a:defRPr>
            </a:lvl1pPr>
          </a:lstStyle>
          <a:p>
            <a:fld id="{A3F7CB7D-F184-43C7-B6FD-03D728E1BBFF}" type="slidenum">
              <a:rPr lang="zh-CN">
                <a:solidFill>
                  <a:srgbClr val="FFFFFF"/>
                </a:solidFill>
              </a:rPr>
            </a:fld>
            <a:endParaRPr 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68126-03FC-49C0-B9B8-2B561CCC3D90}" type="datetime1">
              <a:rPr/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 latinLnBrk="0">
              <a:defRPr lang="zh-CN">
                <a:solidFill>
                  <a:schemeClr val="tx2"/>
                </a:solidFill>
              </a:defRPr>
            </a:lvl1pPr>
          </a:lstStyle>
          <a:p>
            <a:fld id="{A3F7CB7D-F184-43C7-B6FD-03D728E1BBFF}" type="slidenum">
              <a:rPr lang="zh-CN">
                <a:solidFill>
                  <a:schemeClr val="tx2"/>
                </a:solidFill>
              </a:rPr>
            </a:fld>
            <a:endParaRPr lang="zh-CN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 latinLnBrk="0">
              <a:buNone/>
              <a:defRPr lang="zh-CN" sz="4200" b="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8198-4617-485E-9585-4840B69DBBA6}" type="datetime1">
              <a:rPr/>
            </a:fld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latinLnBrk="0">
              <a:defRPr lang="zh-CN">
                <a:solidFill>
                  <a:srgbClr val="FFFFFF"/>
                </a:solidFill>
              </a:defRPr>
            </a:lvl1pPr>
          </a:lstStyle>
          <a:p>
            <a:fld id="{A3F7CB7D-F184-43C7-B6FD-03D728E1BBFF}" type="slidenum">
              <a:rPr lang="zh-CN">
                <a:solidFill>
                  <a:srgbClr val="FFFFFF"/>
                </a:solidFill>
              </a:rPr>
            </a:fld>
            <a:endParaRPr lang="zh-CN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 latinLnBrk="0">
              <a:spcAft>
                <a:spcPts val="1000"/>
              </a:spcAft>
              <a:buNone/>
              <a:defRPr lang="zh-CN" sz="1800"/>
            </a:lvl1pPr>
            <a:lvl2pPr latinLnBrk="0">
              <a:buNone/>
              <a:defRPr lang="zh-CN" sz="1200"/>
            </a:lvl2pPr>
            <a:lvl3pPr latinLnBrk="0">
              <a:buNone/>
              <a:defRPr lang="zh-CN" sz="1000"/>
            </a:lvl3pPr>
            <a:lvl4pPr latinLnBrk="0">
              <a:buNone/>
              <a:defRPr lang="zh-CN" sz="900"/>
            </a:lvl4pPr>
            <a:lvl5pPr latinLnBrk="0">
              <a:buNone/>
              <a:defRPr lang="zh-CN" sz="900"/>
            </a:lvl5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 latinLnBrk="0">
              <a:buNone/>
              <a:defRPr lang="zh-CN" sz="3200"/>
            </a:lvl1pPr>
          </a:lstStyle>
          <a:p>
            <a:endParaRPr lang="zh-C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 latinLnBrk="0">
              <a:buFontTx/>
              <a:buNone/>
              <a:defRPr lang="zh-CN" sz="1700"/>
            </a:lvl1pPr>
            <a:lvl2pPr latinLnBrk="0">
              <a:buFontTx/>
              <a:buNone/>
              <a:defRPr lang="zh-CN" sz="1200"/>
            </a:lvl2pPr>
            <a:lvl3pPr latinLnBrk="0">
              <a:buFontTx/>
              <a:buNone/>
              <a:defRPr lang="zh-CN" sz="1000"/>
            </a:lvl3pPr>
            <a:lvl4pPr latinLnBrk="0">
              <a:buFontTx/>
              <a:buNone/>
              <a:defRPr lang="zh-CN" sz="900"/>
            </a:lvl4pPr>
            <a:lvl5pPr latinLnBrk="0">
              <a:buFontTx/>
              <a:buNone/>
              <a:defRPr lang="zh-CN" sz="900"/>
            </a:lvl5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 latinLnBrk="0">
              <a:buNone/>
              <a:defRPr lang="zh-CN" sz="2800" b="0">
                <a:solidFill>
                  <a:srgbClr val="FFFFFF"/>
                </a:solidFill>
              </a:defRPr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</p:spPr>
        <p:txBody>
          <a:bodyPr rtlCol="0"/>
          <a:lstStyle/>
          <a:p>
            <a:fld id="{E4606EA6-EFEA-4C30-9264-4F9291A5780D}" type="datetime1">
              <a:rPr/>
            </a:fld>
            <a:endParaRPr lang="zh-CN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 latinLnBrk="0">
              <a:defRPr lang="zh-CN" sz="2800"/>
            </a:lvl1pPr>
          </a:lstStyle>
          <a:p>
            <a:pPr algn="ctr"/>
            <a:fld id="{8F82E0A0-C266-4798-8C8F-B9F91E9DA37E}" type="slidenum">
              <a:rPr lang="zh-CN" sz="2800" b="1">
                <a:solidFill>
                  <a:srgbClr val="FFFFFF"/>
                </a:solidFill>
              </a:rPr>
            </a:fld>
            <a:endParaRPr lang="zh-CN" sz="280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</p:spPr>
        <p:txBody>
          <a:bodyPr rtlCol="0"/>
          <a:lstStyle/>
          <a:p>
            <a:endParaRPr 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  <a:p>
            <a:pPr lvl="5"/>
            <a:endParaRPr lang="zh-CN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vert="horz" anchor="ctr" anchorCtr="0"/>
          <a:lstStyle>
            <a:lvl1pPr algn="l" latinLnBrk="0">
              <a:defRPr lang="zh-CN" sz="1400">
                <a:solidFill>
                  <a:schemeClr val="tx2"/>
                </a:solidFill>
              </a:defRPr>
            </a:lvl1pPr>
          </a:lstStyle>
          <a:p>
            <a:fld id="{E4606EA6-EFEA-4C30-9264-4F9291A5780D}" type="datetime1">
              <a:rPr/>
            </a:fld>
            <a:endParaRPr lang="zh-CN" sz="140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vert="horz" anchor="ctr"/>
          <a:lstStyle>
            <a:lvl1pPr algn="r" latinLnBrk="0">
              <a:defRPr lang="zh-CN" sz="1400">
                <a:solidFill>
                  <a:schemeClr val="tx2"/>
                </a:solidFill>
              </a:defRPr>
            </a:lvl1pPr>
          </a:lstStyle>
          <a:p>
            <a:pPr algn="r"/>
            <a:endParaRPr lang="zh-CN" sz="140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8" name="Rectangle 7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latinLnBrk="0">
              <a:defRPr lang="zh-CN" sz="1400" b="1">
                <a:solidFill>
                  <a:srgbClr val="FFFFFF"/>
                </a:solidFill>
              </a:defRPr>
            </a:lvl1pPr>
          </a:lstStyle>
          <a:p>
            <a:pPr algn="ctr"/>
            <a:fld id="{8F82E0A0-C266-4798-8C8F-B9F91E9DA37E}" type="slidenum">
              <a:rPr lang="zh-CN" sz="1400" b="1">
                <a:solidFill>
                  <a:srgbClr val="FFFFFF"/>
                </a:solidFill>
              </a:rPr>
            </a:fld>
            <a:endParaRPr lang="zh-CN" sz="1400" b="1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zh-CN"/>
              <a:t>单击此处编辑母版标题样式</a:t>
            </a:r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rtl="0" latinLnBrk="0">
        <a:spcBef>
          <a:spcPct val="0"/>
        </a:spcBef>
        <a:buNone/>
        <a:defRPr lang="zh-CN" sz="4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latinLnBrk="0">
        <a:spcBef>
          <a:spcPts val="700"/>
        </a:spcBef>
        <a:buClr>
          <a:schemeClr val="accent2"/>
        </a:buClr>
        <a:buSzPct val="60000"/>
        <a:buFont typeface="Wingdings" panose="05000000000000000000"/>
        <a:buChar char=""/>
        <a:defRPr lang="zh-CN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latinLnBrk="0">
        <a:spcBef>
          <a:spcPts val="550"/>
        </a:spcBef>
        <a:buClr>
          <a:schemeClr val="accent1"/>
        </a:buClr>
        <a:buSzPct val="70000"/>
        <a:buFont typeface="Wingdings 2" panose="05020102010507070707"/>
        <a:buChar char=""/>
        <a:defRPr lang="zh-CN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latinLnBrk="0">
        <a:spcBef>
          <a:spcPts val="500"/>
        </a:spcBef>
        <a:buClr>
          <a:schemeClr val="accent2"/>
        </a:buClr>
        <a:buSzPct val="75000"/>
        <a:buFont typeface="Wingdings" panose="05000000000000000000"/>
        <a:buChar char=""/>
        <a:defRPr lang="zh-CN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latinLnBrk="0">
        <a:spcBef>
          <a:spcPts val="400"/>
        </a:spcBef>
        <a:buClr>
          <a:schemeClr val="accent3"/>
        </a:buClr>
        <a:buSzPct val="75000"/>
        <a:buFont typeface="Wingdings" panose="05000000000000000000"/>
        <a:buChar char="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latinLnBrk="0">
        <a:spcBef>
          <a:spcPts val="400"/>
        </a:spcBef>
        <a:buClr>
          <a:schemeClr val="accent4"/>
        </a:buClr>
        <a:buSzPct val="65000"/>
        <a:buFont typeface="Wingdings" panose="05000000000000000000"/>
        <a:buChar char="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latinLnBrk="0">
        <a:spcBef>
          <a:spcPct val="20000"/>
        </a:spcBef>
        <a:buClr>
          <a:schemeClr val="accent1"/>
        </a:buClr>
        <a:buFont typeface="Wingdings" panose="05000000000000000000"/>
        <a:buNone/>
        <a:defRPr lang="zh-CN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latinLnBrk="0">
        <a:spcBef>
          <a:spcPct val="20000"/>
        </a:spcBef>
        <a:buClr>
          <a:schemeClr val="accent2"/>
        </a:buClr>
        <a:buFont typeface="Wingdings" panose="05000000000000000000"/>
        <a:buChar char="§"/>
        <a:defRPr lang="zh-CN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latinLnBrk="0">
        <a:spcBef>
          <a:spcPct val="20000"/>
        </a:spcBef>
        <a:buClr>
          <a:schemeClr val="accent3"/>
        </a:buClr>
        <a:buFont typeface="Wingdings" panose="05000000000000000000"/>
        <a:buChar char="§"/>
        <a:defRPr lang="zh-CN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latinLnBrk="0">
        <a:spcBef>
          <a:spcPct val="20000"/>
        </a:spcBef>
        <a:buClr>
          <a:schemeClr val="accent4"/>
        </a:buClr>
        <a:buFont typeface="Wingdings" panose="05000000000000000000"/>
        <a:buChar char="§"/>
        <a:defRPr lang="zh-CN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latinLnBrk="0">
        <a:defRPr lang="zh-CN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latinLnBrk="0">
        <a:defRPr lang="zh-CN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latinLnBrk="0">
        <a:defRPr lang="zh-CN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latinLnBrk="0">
        <a:defRPr lang="zh-CN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latinLnBrk="0">
        <a:defRPr lang="zh-CN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latinLnBrk="0">
        <a:defRPr lang="zh-CN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latinLnBrk="0">
        <a:defRPr lang="zh-CN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latinLnBrk="0">
        <a:defRPr lang="zh-CN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latinLnBrk="0">
        <a:defRPr lang="zh-CN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bottom bar"/>
          <p:cNvSpPr/>
          <p:nvPr/>
        </p:nvSpPr>
        <p:spPr>
          <a:xfrm>
            <a:off x="502920" y="6565392"/>
            <a:ext cx="11183112" cy="146304"/>
          </a:xfrm>
          <a:prstGeom prst="rect">
            <a:avLst/>
          </a:prstGeom>
          <a:solidFill>
            <a:srgbClr val="2F75B5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66928" y="73152"/>
            <a:ext cx="8961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zh-CN" sz="1710" b="1">
                <a:solidFill>
                  <a:srgbClr val="FFFFFF"/>
                </a:solidFill>
                <a:latin typeface="Times New Roman" panose="02020603050405020304"/>
                <a:ea typeface="Microsoft YaHei"/>
                <a:cs typeface="Times New Roman" panose="02020603050405020304"/>
              </a:rPr>
              <a:t>01 研究主题</a:t>
            </a:r>
            <a:endParaRPr lang="zh-CN" sz="1710">
              <a:latin typeface="Times New Roman" panose="02020603050405020304"/>
              <a:ea typeface="Microsoft YaHei"/>
            </a:endParaRPr>
          </a:p>
        </p:txBody>
      </p:sp>
      <p:sp>
        <p:nvSpPr>
          <p:cNvPr id="5" name="sub"/>
          <p:cNvSpPr/>
          <p:nvPr/>
        </p:nvSpPr>
        <p:spPr>
          <a:xfrm>
            <a:off x="8046720" y="100584"/>
            <a:ext cx="35204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r"/>
            <a:r>
              <a:rPr lang="zh-CN" sz="1100">
                <a:solidFill>
                  <a:srgbClr val="DDEBF7"/>
                </a:solidFill>
                <a:latin typeface="Times New Roman" panose="02020603050405020304"/>
                <a:ea typeface="Microsoft YaHei"/>
                <a:cs typeface="Times New Roman" panose="02020603050405020304"/>
              </a:rPr>
              <a:t>课程汇报 / 10 分钟</a:t>
            </a:r>
            <a:endParaRPr lang="zh-CN" sz="1100">
              <a:latin typeface="Times New Roman" panose="02020603050405020304"/>
              <a:ea typeface="Microsoft YaHei"/>
            </a:endParaRPr>
          </a:p>
        </p:txBody>
      </p:sp>
      <p:sp>
        <p:nvSpPr>
          <p:cNvPr id="6" name="title"/>
          <p:cNvSpPr/>
          <p:nvPr/>
        </p:nvSpPr>
        <p:spPr>
          <a:xfrm>
            <a:off x="762000" y="2159000"/>
            <a:ext cx="10607040" cy="272478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 algn="ctr"/>
            <a:r>
              <a:rPr lang="zh-CN" sz="2000" b="1">
                <a:solidFill>
                  <a:srgbClr val="17324D"/>
                </a:solidFill>
                <a:latin typeface="Times New Roman" panose="02020603050405020304"/>
                <a:ea typeface="Microsoft YaHei"/>
                <a:cs typeface="Times New Roman" panose="02020603050405020304"/>
              </a:rPr>
              <a:t>人工智能导论</a:t>
            </a:r>
            <a:r>
              <a:rPr lang="en-US" altLang="zh-CN" sz="2000" b="1">
                <a:solidFill>
                  <a:srgbClr val="17324D"/>
                </a:solidFill>
                <a:latin typeface="Times New Roman" panose="02020603050405020304"/>
                <a:ea typeface="Microsoft YaHei"/>
                <a:cs typeface="Times New Roman" panose="02020603050405020304"/>
              </a:rPr>
              <a:t> project4</a:t>
            </a:r>
            <a:endParaRPr lang="zh-CN" sz="2000" b="1">
              <a:solidFill>
                <a:srgbClr val="17324D"/>
              </a:solidFill>
              <a:latin typeface="Times New Roman" panose="02020603050405020304"/>
              <a:ea typeface="Microsoft YaHei"/>
              <a:cs typeface="Times New Roman" panose="02020603050405020304"/>
            </a:endParaRPr>
          </a:p>
          <a:p>
            <a:pPr algn="ctr"/>
            <a:endParaRPr lang="zh-CN" sz="2000" b="1">
              <a:solidFill>
                <a:srgbClr val="17324D"/>
              </a:solidFill>
              <a:latin typeface="Times New Roman" panose="02020603050405020304"/>
              <a:ea typeface="Microsoft YaHei"/>
              <a:cs typeface="Times New Roman" panose="02020603050405020304"/>
            </a:endParaRPr>
          </a:p>
          <a:p>
            <a:pPr algn="ctr"/>
            <a:r>
              <a:rPr lang="en-US" altLang="en-US" sz="1600">
                <a:latin typeface="Times New Roman" panose="02020603050405020304"/>
                <a:ea typeface="Microsoft YaHei"/>
              </a:rPr>
              <a:t>StatBot</a:t>
            </a:r>
            <a:r>
              <a:rPr lang="zh-CN" altLang="en-US" sz="1600">
                <a:latin typeface="Times New Roman" panose="02020603050405020304"/>
                <a:ea typeface="Microsoft YaHei"/>
              </a:rPr>
              <a:t>：面向</a:t>
            </a:r>
            <a:r>
              <a:rPr lang="en-US" altLang="en-US" sz="1600">
                <a:latin typeface="Times New Roman" panose="02020603050405020304"/>
                <a:ea typeface="Microsoft YaHei"/>
              </a:rPr>
              <a:t> AI + </a:t>
            </a:r>
            <a:r>
              <a:rPr lang="zh-CN" altLang="en-US" sz="1600">
                <a:latin typeface="Times New Roman" panose="02020603050405020304"/>
                <a:ea typeface="Microsoft YaHei"/>
              </a:rPr>
              <a:t>统计的自主数据分析</a:t>
            </a:r>
            <a:r>
              <a:rPr lang="en-US" altLang="en-US" sz="1600">
                <a:latin typeface="Times New Roman" panose="02020603050405020304"/>
                <a:ea typeface="Microsoft YaHei"/>
              </a:rPr>
              <a:t> Agent</a:t>
            </a:r>
            <a:endParaRPr lang="en-US" altLang="en-US" sz="1600">
              <a:latin typeface="Times New Roman" panose="02020603050405020304"/>
              <a:ea typeface="Microsoft YaHei"/>
            </a:endParaRPr>
          </a:p>
          <a:p>
            <a:pPr algn="ctr"/>
            <a:endParaRPr lang="en-US" altLang="en-US" sz="1600">
              <a:latin typeface="Times New Roman" panose="02020603050405020304"/>
              <a:ea typeface="Microsoft YaHei"/>
            </a:endParaRPr>
          </a:p>
          <a:p>
            <a:pPr algn="ctr"/>
            <a:r>
              <a:rPr lang="zh-CN" altLang="en-US" sz="1600">
                <a:latin typeface="Times New Roman" panose="02020603050405020304"/>
                <a:ea typeface="Microsoft YaHei"/>
              </a:rPr>
              <a:t>自然语言驱动的统计分析、代码执行与报告生成系统</a:t>
            </a:r>
            <a:endParaRPr lang="en-US" altLang="en-US" sz="1600">
              <a:latin typeface="Times New Roman" panose="02020603050405020304"/>
              <a:ea typeface="Microsoft YaHei"/>
            </a:endParaRPr>
          </a:p>
          <a:p>
            <a:pPr algn="ctr"/>
            <a:endParaRPr lang="zh-CN" altLang="en-US" sz="1600">
              <a:latin typeface="Times New Roman" panose="02020603050405020304"/>
              <a:ea typeface="Microsoft YaHei"/>
            </a:endParaRPr>
          </a:p>
          <a:p>
            <a:pPr algn="ctr"/>
            <a:r>
              <a:rPr lang="zh-CN" altLang="en-US" sz="1600">
                <a:latin typeface="Times New Roman" panose="02020603050405020304"/>
                <a:ea typeface="Microsoft YaHei"/>
              </a:rPr>
              <a:t>陆超羿</a:t>
            </a:r>
            <a:endParaRPr lang="zh-CN" altLang="en-US" sz="1600">
              <a:latin typeface="Times New Roman" panose="02020603050405020304"/>
              <a:ea typeface="Microsoft YaHei"/>
            </a:endParaRPr>
          </a:p>
          <a:p>
            <a:pPr algn="ctr"/>
            <a:r>
              <a:rPr lang="zh-CN" altLang="en-US" sz="1600">
                <a:latin typeface="Times New Roman" panose="02020603050405020304"/>
                <a:ea typeface="Microsoft YaHei"/>
              </a:rPr>
              <a:t>金志恒</a:t>
            </a:r>
            <a:endParaRPr lang="zh-CN" altLang="en-US" sz="1600">
              <a:latin typeface="Times New Roman" panose="02020603050405020304"/>
              <a:ea typeface="Microsoft YaHei"/>
            </a:endParaRPr>
          </a:p>
          <a:p>
            <a:pPr algn="ctr"/>
            <a:r>
              <a:rPr lang="zh-CN" altLang="en-US" sz="1600">
                <a:latin typeface="Times New Roman" panose="02020603050405020304"/>
                <a:ea typeface="Microsoft YaHei"/>
              </a:rPr>
              <a:t>黄麒</a:t>
            </a:r>
            <a:r>
              <a:rPr lang="zh-CN" altLang="en-US" sz="1600">
                <a:latin typeface="Times New Roman" panose="02020603050405020304"/>
                <a:ea typeface="Microsoft YaHei"/>
              </a:rPr>
              <a:t>锐</a:t>
            </a:r>
            <a:endParaRPr lang="zh-CN" altLang="en-US" sz="1600">
              <a:latin typeface="Times New Roman" panose="02020603050405020304"/>
              <a:ea typeface="Microsoft YaHei"/>
            </a:endParaRPr>
          </a:p>
        </p:txBody>
      </p:sp>
      <p:sp>
        <p:nvSpPr>
          <p:cNvPr id="8" name="rule"/>
          <p:cNvSpPr/>
          <p:nvPr/>
        </p:nvSpPr>
        <p:spPr>
          <a:xfrm>
            <a:off x="1981200" y="3658362"/>
            <a:ext cx="8183880" cy="27432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60579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bottom bar"/>
          <p:cNvSpPr/>
          <p:nvPr/>
        </p:nvSpPr>
        <p:spPr>
          <a:xfrm>
            <a:off x="502920" y="6565392"/>
            <a:ext cx="11183112" cy="146304"/>
          </a:xfrm>
          <a:prstGeom prst="rect">
            <a:avLst/>
          </a:prstGeom>
          <a:solidFill>
            <a:srgbClr val="2F75B5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66928" y="174752"/>
            <a:ext cx="8961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zh-CN" sz="2000" b="1">
                <a:solidFill>
                  <a:srgbClr val="FFFFFF"/>
                </a:solidFill>
                <a:latin typeface="Times New Roman" panose="02020603050405020304"/>
                <a:ea typeface="Microsoft YaHei"/>
                <a:cs typeface="Times New Roman" panose="02020603050405020304"/>
              </a:rPr>
              <a:t> </a:t>
            </a:r>
            <a:r>
              <a:rPr lang="zh-CN" altLang="en-US" sz="2000" b="1">
                <a:solidFill>
                  <a:srgbClr val="FFFFFF"/>
                </a:solidFill>
                <a:latin typeface="Times New Roman" panose="02020603050405020304"/>
                <a:ea typeface="Microsoft YaHei"/>
                <a:cs typeface="Times New Roman" panose="02020603050405020304"/>
              </a:rPr>
              <a:t>项目背景：为什么需要统计分析</a:t>
            </a:r>
            <a:r>
              <a:rPr lang="en-US" altLang="en-US" sz="2000" b="1">
                <a:solidFill>
                  <a:srgbClr val="FFFFFF"/>
                </a:solidFill>
                <a:latin typeface="Times New Roman" panose="02020603050405020304"/>
                <a:ea typeface="Microsoft YaHei"/>
                <a:cs typeface="Times New Roman" panose="02020603050405020304"/>
              </a:rPr>
              <a:t> Agent</a:t>
            </a:r>
            <a:r>
              <a:rPr lang="zh-CN" altLang="en-US" sz="2000" b="1">
                <a:solidFill>
                  <a:srgbClr val="FFFFFF"/>
                </a:solidFill>
                <a:latin typeface="Times New Roman" panose="02020603050405020304"/>
                <a:ea typeface="Microsoft YaHei"/>
                <a:cs typeface="Times New Roman" panose="02020603050405020304"/>
              </a:rPr>
              <a:t>？</a:t>
            </a:r>
            <a:endParaRPr lang="zh-CN" altLang="en-US" sz="2000" b="1">
              <a:solidFill>
                <a:srgbClr val="FFFFFF"/>
              </a:solidFill>
              <a:latin typeface="Times New Roman" panose="02020603050405020304"/>
              <a:ea typeface="Microsoft YaHei"/>
              <a:cs typeface="Times New Roman" panose="02020603050405020304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762000" y="838200"/>
            <a:ext cx="5869305" cy="5332730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b="1"/>
              <a:t>传统统计分析通常需要多个步骤：</a:t>
            </a:r>
            <a:endParaRPr lang="zh-CN" altLang="en-US" b="1"/>
          </a:p>
          <a:p>
            <a:endParaRPr lang="en-US" altLang="en-US"/>
          </a:p>
          <a:p>
            <a:pPr marL="342900" indent="-342900">
              <a:buAutoNum type="arabicPeriod"/>
            </a:pPr>
            <a:r>
              <a:rPr lang="zh-CN" altLang="en-US"/>
              <a:t>读取数据并理解字段含义</a:t>
            </a:r>
            <a:endParaRPr lang="zh-CN" altLang="en-US"/>
          </a:p>
          <a:p>
            <a:pPr marL="342900" indent="-342900">
              <a:buAutoNum type="arabicPeriod"/>
            </a:pPr>
            <a:r>
              <a:rPr lang="zh-CN" altLang="en-US"/>
              <a:t>检查变量类型、缺失值和异常值</a:t>
            </a:r>
            <a:endParaRPr lang="zh-CN" altLang="en-US"/>
          </a:p>
          <a:p>
            <a:pPr marL="342900" indent="-342900">
              <a:buAutoNum type="arabicPeriod"/>
            </a:pPr>
            <a:r>
              <a:rPr lang="zh-CN" altLang="en-US"/>
              <a:t>根据研究问题选择统计方法</a:t>
            </a:r>
            <a:endParaRPr lang="zh-CN" altLang="en-US"/>
          </a:p>
          <a:p>
            <a:pPr marL="342900" indent="-342900">
              <a:buAutoNum type="arabicPeriod"/>
            </a:pPr>
            <a:r>
              <a:rPr lang="zh-CN" altLang="en-US"/>
              <a:t>编写</a:t>
            </a:r>
            <a:r>
              <a:rPr lang="en-US" altLang="en-US"/>
              <a:t> Python / R </a:t>
            </a:r>
            <a:r>
              <a:rPr lang="zh-CN" altLang="en-US"/>
              <a:t>代码执行分析</a:t>
            </a:r>
            <a:endParaRPr lang="zh-CN" altLang="en-US"/>
          </a:p>
          <a:p>
            <a:pPr marL="342900" indent="-342900">
              <a:buAutoNum type="arabicPeriod"/>
            </a:pPr>
            <a:r>
              <a:rPr lang="zh-CN" altLang="en-US"/>
              <a:t>解释统计检验、回归模型或可视化结果</a:t>
            </a:r>
            <a:endParaRPr lang="zh-CN" altLang="en-US"/>
          </a:p>
          <a:p>
            <a:pPr marL="342900" indent="-342900">
              <a:buAutoNum type="arabicPeriod"/>
            </a:pPr>
            <a:r>
              <a:rPr lang="zh-CN" altLang="en-US"/>
              <a:t>整理图表、代码和文字，形成分析报告</a:t>
            </a:r>
            <a:endParaRPr lang="zh-CN" altLang="en-US"/>
          </a:p>
          <a:p>
            <a:endParaRPr lang="zh-CN" altLang="en-US"/>
          </a:p>
          <a:p>
            <a:r>
              <a:rPr lang="zh-CN" altLang="en-US" b="1"/>
              <a:t>现有痛点：</a:t>
            </a:r>
            <a:endParaRPr lang="zh-CN" altLang="en-US" b="1"/>
          </a:p>
          <a:p>
            <a:endParaRPr lang="en-US" altLang="en-US"/>
          </a:p>
          <a:p>
            <a:pPr marL="342900" indent="-342900">
              <a:buAutoNum type="arabicPeriod"/>
            </a:pPr>
            <a:r>
              <a:rPr lang="zh-CN" altLang="en-US"/>
              <a:t>普通用户不一定具备统计方法选择能力</a:t>
            </a:r>
            <a:endParaRPr lang="zh-CN" altLang="en-US"/>
          </a:p>
          <a:p>
            <a:pPr marL="342900" indent="-342900">
              <a:buAutoNum type="arabicPeriod"/>
            </a:pPr>
            <a:r>
              <a:rPr lang="zh-CN" altLang="en-US"/>
              <a:t>手动编程成本高，分析流程容易中断</a:t>
            </a:r>
            <a:endParaRPr lang="zh-CN" altLang="en-US"/>
          </a:p>
          <a:p>
            <a:pPr marL="342900" indent="-342900">
              <a:buAutoNum type="arabicPeriod"/>
            </a:pPr>
            <a:r>
              <a:rPr lang="zh-CN" altLang="en-US"/>
              <a:t>只让大模型自由生成代码，容易出现方法选择不稳定、代码报错和上下文遗忘</a:t>
            </a:r>
            <a:endParaRPr lang="zh-CN" altLang="en-US"/>
          </a:p>
          <a:p>
            <a:pPr marL="342900" indent="-342900">
              <a:buAutoNum type="arabicPeriod"/>
            </a:pPr>
            <a:r>
              <a:rPr lang="zh-CN" altLang="en-US"/>
              <a:t>外部模型接口超时时，整个分析流程容易失败</a:t>
            </a:r>
            <a:endParaRPr lang="zh-CN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8737600" y="3073400"/>
            <a:ext cx="333375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altLang="en-US" sz="1600" i="0">
                <a:solidFill>
                  <a:srgbClr val="1A1C1F"/>
                </a:solidFill>
                <a:latin typeface="-apple-system"/>
                <a:ea typeface="-apple-system"/>
              </a:rPr>
              <a:t>用户一句话 </a:t>
            </a:r>
            <a:r>
              <a:rPr altLang="zh-CN" sz="1600" i="0">
                <a:solidFill>
                  <a:srgbClr val="1A1C1F"/>
                </a:solidFill>
                <a:latin typeface="-apple-system"/>
                <a:ea typeface="-apple-system"/>
              </a:rPr>
              <a:t>-&gt; Agent </a:t>
            </a:r>
            <a:r>
              <a:rPr altLang="en-US" sz="1600" i="0">
                <a:solidFill>
                  <a:srgbClr val="1A1C1F"/>
                </a:solidFill>
                <a:latin typeface="-apple-system"/>
                <a:ea typeface="-apple-system"/>
              </a:rPr>
              <a:t>自动分析</a:t>
            </a:r>
            <a:endParaRPr altLang="en-US" sz="1600" i="0">
              <a:solidFill>
                <a:srgbClr val="1A1C1F"/>
              </a:solidFill>
              <a:latin typeface="-apple-system"/>
              <a:ea typeface="-apple-system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7407275" y="3022600"/>
            <a:ext cx="1093470" cy="484505"/>
          </a:xfrm>
          <a:prstGeom prst="rightArrow">
            <a:avLst/>
          </a:prstGeom>
          <a:solidFill>
            <a:srgbClr val="1F4E79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bottom bar"/>
          <p:cNvSpPr/>
          <p:nvPr/>
        </p:nvSpPr>
        <p:spPr>
          <a:xfrm>
            <a:off x="502920" y="6565392"/>
            <a:ext cx="11183112" cy="146304"/>
          </a:xfrm>
          <a:prstGeom prst="rect">
            <a:avLst/>
          </a:prstGeom>
          <a:solidFill>
            <a:srgbClr val="2F75B5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66928" y="73152"/>
            <a:ext cx="8961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zh-CN" altLang="en-US" sz="1710" b="1">
                <a:solidFill>
                  <a:srgbClr val="FFFFFF"/>
                </a:solidFill>
                <a:latin typeface="Times New Roman" panose="02020603050405020304"/>
                <a:ea typeface="Microsoft YaHei"/>
                <a:cs typeface="Times New Roman" panose="02020603050405020304"/>
              </a:rPr>
              <a:t>问题定义与项目目标</a:t>
            </a:r>
            <a:endParaRPr lang="zh-CN" altLang="en-US" sz="1710" b="1">
              <a:solidFill>
                <a:srgbClr val="FFFFFF"/>
              </a:solidFill>
              <a:latin typeface="Times New Roman" panose="02020603050405020304"/>
              <a:ea typeface="Microsoft YaHei"/>
              <a:cs typeface="Times New Roman" panose="02020603050405020304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889000" y="838200"/>
            <a:ext cx="4902200" cy="515048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b="1"/>
              <a:t>系统输入：</a:t>
            </a:r>
            <a:endParaRPr lang="en-US" altLang="en-US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zh-CN" altLang="en-US"/>
              <a:t>用户上传的数据集，例如</a:t>
            </a:r>
            <a:r>
              <a:rPr lang="en-US" altLang="zh-CN"/>
              <a:t>：</a:t>
            </a:r>
            <a:r>
              <a:rPr lang="en-US" altLang="en-US"/>
              <a:t> CSV / Excel</a:t>
            </a:r>
            <a:endParaRPr lang="en-US" altLang="en-US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zh-CN" altLang="en-US"/>
              <a:t>用户的自然语言问题，</a:t>
            </a:r>
            <a:endParaRPr lang="zh-CN" altLang="en-US"/>
          </a:p>
          <a:p>
            <a:pPr lvl="1" indent="0">
              <a:buFont typeface="Arial" panose="020B0704020202020204" pitchFamily="34" charset="0"/>
              <a:buNone/>
            </a:pPr>
            <a:r>
              <a:rPr lang="zh-CN" altLang="en-US"/>
              <a:t>例如：</a:t>
            </a:r>
            <a:endParaRPr lang="zh-CN" altLang="en-US"/>
          </a:p>
          <a:p>
            <a:pPr marL="742950" lvl="1" indent="-285750">
              <a:buFont typeface="Arial" panose="020B0704020202020204" pitchFamily="34" charset="0"/>
              <a:buChar char="•"/>
            </a:pPr>
            <a:r>
              <a:rPr lang="en-US" altLang="en-US"/>
              <a:t>“</a:t>
            </a:r>
            <a:r>
              <a:rPr lang="zh-CN" altLang="en-US"/>
              <a:t>这个数据有多少行多少列？</a:t>
            </a:r>
            <a:r>
              <a:rPr lang="en-US" altLang="en-US"/>
              <a:t>”</a:t>
            </a:r>
            <a:endParaRPr lang="en-US" altLang="en-US"/>
          </a:p>
          <a:p>
            <a:pPr marL="742950" lvl="1" indent="-285750">
              <a:buFont typeface="Arial" panose="020B0704020202020204" pitchFamily="34" charset="0"/>
              <a:buChar char="•"/>
            </a:pPr>
            <a:r>
              <a:rPr lang="en-US" altLang="en-US"/>
              <a:t>“</a:t>
            </a:r>
            <a:r>
              <a:rPr lang="zh-CN" altLang="en-US"/>
              <a:t>分析数值变量之间的相关性</a:t>
            </a:r>
            <a:r>
              <a:rPr lang="en-US" altLang="en-US"/>
              <a:t>”</a:t>
            </a:r>
            <a:endParaRPr lang="en-US" altLang="en-US"/>
          </a:p>
          <a:p>
            <a:pPr marL="742950" lvl="1" indent="-285750">
              <a:buFont typeface="Arial" panose="020B0704020202020204" pitchFamily="34" charset="0"/>
              <a:buChar char="•"/>
            </a:pPr>
            <a:r>
              <a:rPr lang="en-US" altLang="en-US"/>
              <a:t>“</a:t>
            </a:r>
            <a:r>
              <a:rPr lang="zh-CN" altLang="en-US"/>
              <a:t>对</a:t>
            </a:r>
            <a:r>
              <a:rPr lang="en-US" altLang="en-US"/>
              <a:t> profit </a:t>
            </a:r>
            <a:r>
              <a:rPr lang="zh-CN" altLang="en-US"/>
              <a:t>做</a:t>
            </a:r>
            <a:r>
              <a:rPr lang="en-US" altLang="en-US"/>
              <a:t> OLS </a:t>
            </a:r>
            <a:r>
              <a:rPr lang="zh-CN" altLang="en-US"/>
              <a:t>回归分析</a:t>
            </a:r>
            <a:r>
              <a:rPr lang="en-US" altLang="en-US"/>
              <a:t>”</a:t>
            </a:r>
            <a:endParaRPr lang="en-US" altLang="en-US"/>
          </a:p>
          <a:p>
            <a:endParaRPr lang="zh-CN" altLang="en-US"/>
          </a:p>
          <a:p>
            <a:r>
              <a:rPr lang="zh-CN" altLang="en-US" b="1"/>
              <a:t>系统输出：</a:t>
            </a:r>
            <a:endParaRPr lang="zh-CN" altLang="en-US" b="1"/>
          </a:p>
          <a:p>
            <a:endParaRPr lang="en-US" altLang="en-US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zh-CN" altLang="en-US"/>
              <a:t>统计分析计划</a:t>
            </a:r>
            <a:endParaRPr lang="zh-CN" altLang="en-US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zh-CN" altLang="en-US"/>
              <a:t>自动生成或内置模板注入的</a:t>
            </a:r>
            <a:r>
              <a:rPr lang="en-US" altLang="en-US"/>
              <a:t> Python </a:t>
            </a:r>
            <a:r>
              <a:rPr lang="zh-CN" altLang="en-US"/>
              <a:t>代码</a:t>
            </a:r>
            <a:endParaRPr lang="zh-CN" altLang="en-US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/>
              <a:t>Jupyter Kernel </a:t>
            </a:r>
            <a:r>
              <a:rPr lang="zh-CN" altLang="en-US"/>
              <a:t>执行结果</a:t>
            </a:r>
            <a:endParaRPr lang="zh-CN" altLang="en-US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zh-CN" altLang="en-US"/>
              <a:t>表格、图像和统计解释</a:t>
            </a:r>
            <a:endParaRPr lang="zh-CN" altLang="en-US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zh-CN" altLang="en-US"/>
              <a:t>可导出的</a:t>
            </a:r>
            <a:r>
              <a:rPr lang="en-US" altLang="en-US"/>
              <a:t> Notebook</a:t>
            </a:r>
            <a:endParaRPr lang="en-US" altLang="en-US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en-US" altLang="en-US"/>
              <a:t>Markdown </a:t>
            </a:r>
            <a:r>
              <a:rPr lang="zh-CN" altLang="en-US"/>
              <a:t>分析报告</a:t>
            </a:r>
            <a:endParaRPr lang="zh-CN" altLang="en-US"/>
          </a:p>
          <a:p>
            <a:endParaRPr lang="zh-CN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6858000" y="889635"/>
            <a:ext cx="373507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altLang="en-US" b="1">
                <a:sym typeface="+mn-ea"/>
              </a:rPr>
              <a:t>项目核心目标：</a:t>
            </a:r>
            <a:endParaRPr lang="zh-CN" altLang="en-US" b="1"/>
          </a:p>
          <a:p>
            <a:endParaRPr lang="en-US" alt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altLang="en-US">
                <a:sym typeface="+mn-ea"/>
              </a:rPr>
              <a:t>自主规划统计分析流程</a:t>
            </a:r>
            <a:endParaRPr lang="zh-CN" alt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altLang="en-US">
                <a:sym typeface="+mn-ea"/>
              </a:rPr>
              <a:t>自动选择统计工具或生成代码</a:t>
            </a:r>
            <a:endParaRPr lang="zh-CN" alt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altLang="en-US">
                <a:sym typeface="+mn-ea"/>
              </a:rPr>
              <a:t>调用执行环境完成真实计算</a:t>
            </a:r>
            <a:endParaRPr lang="zh-CN" alt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altLang="en-US">
                <a:sym typeface="+mn-ea"/>
              </a:rPr>
              <a:t>维护多轮会话记忆</a:t>
            </a:r>
            <a:endParaRPr lang="zh-CN" alt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altLang="en-US">
                <a:sym typeface="+mn-ea"/>
              </a:rPr>
              <a:t>在模型超时时保持系统可用</a:t>
            </a:r>
            <a:endParaRPr lang="en-US" altLang="en-US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-152400" y="0"/>
            <a:ext cx="12191695" cy="384048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bottom bar"/>
          <p:cNvSpPr/>
          <p:nvPr/>
        </p:nvSpPr>
        <p:spPr>
          <a:xfrm>
            <a:off x="502920" y="6565392"/>
            <a:ext cx="11183112" cy="146304"/>
          </a:xfrm>
          <a:prstGeom prst="rect">
            <a:avLst/>
          </a:prstGeom>
          <a:solidFill>
            <a:srgbClr val="2F75B5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66928" y="73152"/>
            <a:ext cx="8961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zh-CN" altLang="en-US" sz="1710" b="1">
                <a:solidFill>
                  <a:srgbClr val="FFFFFF"/>
                </a:solidFill>
                <a:latin typeface="Times New Roman" panose="02020603050405020304"/>
                <a:ea typeface="Microsoft YaHei"/>
                <a:cs typeface="Times New Roman" panose="02020603050405020304"/>
              </a:rPr>
              <a:t>系统总体架构</a:t>
            </a:r>
            <a:endParaRPr lang="zh-CN" altLang="en-US" sz="1710" b="1">
              <a:solidFill>
                <a:srgbClr val="FFFFFF"/>
              </a:solidFill>
              <a:latin typeface="Times New Roman" panose="02020603050405020304"/>
              <a:ea typeface="Microsoft YaHei"/>
              <a:cs typeface="Times New Roman" panose="020206030504050203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49250" y="698500"/>
            <a:ext cx="11182985" cy="5632450"/>
          </a:xfrm>
          <a:prstGeom prst="rect">
            <a:avLst/>
          </a:prstGeom>
        </p:spPr>
        <p:txBody>
          <a:bodyPr>
            <a:noAutofit/>
          </a:bodyPr>
          <a:p>
            <a:pPr>
              <a:spcAft>
                <a:spcPct val="60000"/>
              </a:spcAft>
            </a:pPr>
            <a:endParaRPr lang="zh-CN" altLang="en-US"/>
          </a:p>
        </p:txBody>
      </p:sp>
      <p:pic>
        <p:nvPicPr>
          <p:cNvPr id="6" name="Picture 5" descr="Screenshot 2026-06-05 at 22.32.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9555" y="0"/>
            <a:ext cx="5567045" cy="683260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348615" y="425450"/>
            <a:ext cx="6250940" cy="6076950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en-US" sz="1400"/>
              <a:t>StatBot </a:t>
            </a:r>
            <a:r>
              <a:rPr lang="zh-CN" altLang="en-US" sz="1400"/>
              <a:t>采用分层式</a:t>
            </a:r>
            <a:r>
              <a:rPr lang="en-US" altLang="en-US" sz="1400"/>
              <a:t> Agent </a:t>
            </a:r>
            <a:r>
              <a:rPr lang="zh-CN" altLang="en-US" sz="1400"/>
              <a:t>架构，将自然语言交互、会话隔离、统计规划、工具调用、代码执行和结果产物管理整合为一条完整分析链路。</a:t>
            </a:r>
            <a:endParaRPr lang="zh-CN" altLang="en-US" sz="1400"/>
          </a:p>
          <a:p>
            <a:endParaRPr lang="en-US" altLang="en-US" sz="1400"/>
          </a:p>
          <a:p>
            <a:r>
              <a:rPr lang="en-US" altLang="en-US" sz="1400"/>
              <a:t>1. </a:t>
            </a:r>
            <a:r>
              <a:rPr lang="zh-CN" altLang="en-US" sz="1400"/>
              <a:t>前端交互层</a:t>
            </a:r>
            <a:endParaRPr lang="zh-CN" altLang="en-US" sz="1400"/>
          </a:p>
          <a:p>
            <a:r>
              <a:rPr lang="zh-CN" altLang="en-US" sz="1400"/>
              <a:t>用户通过</a:t>
            </a:r>
            <a:r>
              <a:rPr lang="en-US" altLang="en-US" sz="1400"/>
              <a:t> Gradio Web </a:t>
            </a:r>
            <a:r>
              <a:rPr lang="zh-CN" altLang="en-US" sz="1400"/>
              <a:t>页面上传数据、提交自然语言问题、查看执行结果，并下载</a:t>
            </a:r>
            <a:r>
              <a:rPr lang="en-US" altLang="en-US" sz="1400"/>
              <a:t> Notebook </a:t>
            </a:r>
            <a:r>
              <a:rPr lang="zh-CN" altLang="en-US" sz="1400"/>
              <a:t>或</a:t>
            </a:r>
            <a:r>
              <a:rPr lang="en-US" altLang="en-US" sz="1400"/>
              <a:t> Markdown </a:t>
            </a:r>
            <a:r>
              <a:rPr lang="zh-CN" altLang="en-US" sz="1400"/>
              <a:t>报告。</a:t>
            </a:r>
            <a:endParaRPr lang="zh-CN" altLang="en-US" sz="1400"/>
          </a:p>
          <a:p>
            <a:endParaRPr lang="en-US" altLang="en-US" sz="1400"/>
          </a:p>
          <a:p>
            <a:r>
              <a:rPr lang="en-US" altLang="en-US" sz="1400"/>
              <a:t>2. </a:t>
            </a:r>
            <a:r>
              <a:rPr lang="zh-CN" altLang="en-US" sz="1400"/>
              <a:t>会话管理层</a:t>
            </a:r>
            <a:endParaRPr lang="zh-CN" altLang="en-US" sz="1400"/>
          </a:p>
          <a:p>
            <a:r>
              <a:rPr lang="en-US" altLang="en-US" sz="1400"/>
              <a:t>SessionManager </a:t>
            </a:r>
            <a:r>
              <a:rPr lang="zh-CN" altLang="en-US" sz="1400"/>
              <a:t>根据浏览器会话</a:t>
            </a:r>
            <a:r>
              <a:rPr lang="en-US" altLang="en-US" sz="1400"/>
              <a:t> ID </a:t>
            </a:r>
            <a:r>
              <a:rPr lang="zh-CN" altLang="en-US" sz="1400"/>
              <a:t>为每个用户创建独立的</a:t>
            </a:r>
            <a:r>
              <a:rPr lang="en-US" altLang="en-US" sz="1400"/>
              <a:t> StatBot </a:t>
            </a:r>
            <a:r>
              <a:rPr lang="zh-CN" altLang="en-US" sz="1400"/>
              <a:t>实例，避免不同会话之间的数据、代码和历史状态串扰。</a:t>
            </a:r>
            <a:endParaRPr lang="zh-CN" altLang="en-US" sz="1400"/>
          </a:p>
          <a:p>
            <a:endParaRPr lang="en-US" altLang="en-US" sz="1400"/>
          </a:p>
          <a:p>
            <a:r>
              <a:rPr lang="en-US" altLang="en-US" sz="1400"/>
              <a:t>3. </a:t>
            </a:r>
            <a:r>
              <a:rPr lang="zh-CN" altLang="en-US" sz="1400"/>
              <a:t>核心</a:t>
            </a:r>
            <a:r>
              <a:rPr lang="en-US" altLang="en-US" sz="1400"/>
              <a:t> Agent </a:t>
            </a:r>
            <a:r>
              <a:rPr lang="zh-CN" altLang="en-US" sz="1400"/>
              <a:t>编排层</a:t>
            </a:r>
            <a:endParaRPr lang="zh-CN" altLang="en-US" sz="1400"/>
          </a:p>
          <a:p>
            <a:r>
              <a:rPr lang="en-US" altLang="en-US" sz="1400"/>
              <a:t>Conversation </a:t>
            </a:r>
            <a:r>
              <a:rPr lang="zh-CN" altLang="en-US" sz="1400"/>
              <a:t>是系统中枢，负责接收请求、生成统计分析计划、调用工具路由、更新会话记忆，并整合执行结果。</a:t>
            </a:r>
            <a:endParaRPr lang="zh-CN" altLang="en-US" sz="1400"/>
          </a:p>
          <a:p>
            <a:endParaRPr lang="en-US" altLang="en-US" sz="1400"/>
          </a:p>
          <a:p>
            <a:r>
              <a:rPr lang="en-US" altLang="en-US" sz="1400"/>
              <a:t>4. </a:t>
            </a:r>
            <a:r>
              <a:rPr lang="zh-CN" altLang="en-US" sz="1400"/>
              <a:t>代码生成与工具执行层</a:t>
            </a:r>
            <a:endParaRPr lang="zh-CN" altLang="en-US" sz="1400"/>
          </a:p>
          <a:p>
            <a:r>
              <a:rPr lang="zh-CN" altLang="en-US" sz="1400"/>
              <a:t>系统优先匹配内置统计工具；若无法匹配，则由</a:t>
            </a:r>
            <a:r>
              <a:rPr lang="en-US" altLang="en-US" sz="1400"/>
              <a:t> Programmer </a:t>
            </a:r>
            <a:r>
              <a:rPr lang="zh-CN" altLang="en-US" sz="1400"/>
              <a:t>动态生成</a:t>
            </a:r>
            <a:r>
              <a:rPr lang="en-US" altLang="en-US" sz="1400"/>
              <a:t> Python </a:t>
            </a:r>
            <a:r>
              <a:rPr lang="zh-CN" altLang="en-US" sz="1400"/>
              <a:t>代码。代码执行失败时，</a:t>
            </a:r>
            <a:r>
              <a:rPr lang="en-US" altLang="en-US" sz="1400"/>
              <a:t>Inspector </a:t>
            </a:r>
            <a:r>
              <a:rPr lang="zh-CN" altLang="en-US" sz="1400"/>
              <a:t>会根据错误信息给出修复建议。</a:t>
            </a:r>
            <a:endParaRPr lang="zh-CN" altLang="en-US" sz="1400"/>
          </a:p>
          <a:p>
            <a:endParaRPr lang="en-US" altLang="en-US" sz="1400"/>
          </a:p>
          <a:p>
            <a:r>
              <a:rPr lang="en-US" altLang="en-US" sz="1400"/>
              <a:t>5. Jupyter Kernel </a:t>
            </a:r>
            <a:r>
              <a:rPr lang="zh-CN" altLang="en-US" sz="1400"/>
              <a:t>执行层</a:t>
            </a:r>
            <a:endParaRPr lang="zh-CN" altLang="en-US" sz="1400"/>
          </a:p>
          <a:p>
            <a:r>
              <a:rPr lang="zh-CN" altLang="en-US" sz="1400"/>
              <a:t>所有分析代码都会在</a:t>
            </a:r>
            <a:r>
              <a:rPr lang="en-US" altLang="en-US" sz="1400"/>
              <a:t> Jupyter Kernel </a:t>
            </a:r>
            <a:r>
              <a:rPr lang="zh-CN" altLang="en-US" sz="1400"/>
              <a:t>中真实运行，系统捕获文本、表格、图像和</a:t>
            </a:r>
            <a:r>
              <a:rPr lang="en-US" altLang="en-US" sz="1400"/>
              <a:t> traceback</a:t>
            </a:r>
            <a:r>
              <a:rPr lang="zh-CN" altLang="en-US" sz="1400"/>
              <a:t>，确保结果来自实际计算而不是模型编造。</a:t>
            </a:r>
            <a:endParaRPr lang="zh-CN" altLang="en-US" sz="1400"/>
          </a:p>
          <a:p>
            <a:endParaRPr lang="en-US" altLang="en-US" sz="1400"/>
          </a:p>
          <a:p>
            <a:r>
              <a:rPr lang="en-US" altLang="en-US" sz="1400"/>
              <a:t>6. </a:t>
            </a:r>
            <a:r>
              <a:rPr lang="zh-CN" altLang="en-US" sz="1400"/>
              <a:t>结果与产物输出层</a:t>
            </a:r>
            <a:endParaRPr lang="zh-CN" altLang="en-US" sz="1400"/>
          </a:p>
          <a:p>
            <a:r>
              <a:rPr lang="zh-CN" altLang="en-US" sz="1400"/>
              <a:t>系统最终输出统计结果、解释文本、可视化图表、</a:t>
            </a:r>
            <a:r>
              <a:rPr lang="en-US" altLang="en-US" sz="1400"/>
              <a:t>Notebook </a:t>
            </a:r>
            <a:r>
              <a:rPr lang="zh-CN" altLang="en-US" sz="1400"/>
              <a:t>和</a:t>
            </a:r>
            <a:r>
              <a:rPr lang="en-US" altLang="en-US" sz="1400"/>
              <a:t> Markdown </a:t>
            </a:r>
            <a:r>
              <a:rPr lang="zh-CN" altLang="en-US" sz="1400"/>
              <a:t>报告，并将关键产物写入</a:t>
            </a:r>
            <a:r>
              <a:rPr lang="en-US" altLang="en-US" sz="1400"/>
              <a:t> SessionState </a:t>
            </a:r>
            <a:r>
              <a:rPr lang="zh-CN" altLang="en-US" sz="1400"/>
              <a:t>供后续分析复用。</a:t>
            </a:r>
            <a:endParaRPr lang="zh-CN" altLang="en-US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bottom bar"/>
          <p:cNvSpPr/>
          <p:nvPr/>
        </p:nvSpPr>
        <p:spPr>
          <a:xfrm>
            <a:off x="502920" y="6565392"/>
            <a:ext cx="11183112" cy="146304"/>
          </a:xfrm>
          <a:prstGeom prst="rect">
            <a:avLst/>
          </a:prstGeom>
          <a:solidFill>
            <a:srgbClr val="2F75B5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66928" y="73152"/>
            <a:ext cx="8961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en-US" altLang="en-US" sz="1710" b="1">
                <a:solidFill>
                  <a:srgbClr val="FFFFFF"/>
                </a:solidFill>
                <a:latin typeface="Times New Roman" panose="02020603050405020304"/>
                <a:ea typeface="Microsoft YaHei"/>
                <a:cs typeface="Times New Roman" panose="02020603050405020304"/>
              </a:rPr>
              <a:t>Agent </a:t>
            </a:r>
            <a:r>
              <a:rPr lang="zh-CN" altLang="en-US" sz="1710" b="1">
                <a:solidFill>
                  <a:srgbClr val="FFFFFF"/>
                </a:solidFill>
                <a:latin typeface="Times New Roman" panose="02020603050405020304"/>
                <a:ea typeface="Microsoft YaHei"/>
                <a:cs typeface="Times New Roman" panose="02020603050405020304"/>
              </a:rPr>
              <a:t>工作流</a:t>
            </a:r>
            <a:endParaRPr lang="zh-CN" altLang="en-US" sz="1710" b="1">
              <a:solidFill>
                <a:srgbClr val="FFFFFF"/>
              </a:solidFill>
              <a:latin typeface="Times New Roman" panose="02020603050405020304"/>
              <a:ea typeface="Microsoft YaHei"/>
              <a:cs typeface="Times New Roman" panose="020206030504050203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473960" y="457200"/>
            <a:ext cx="7240270" cy="5858510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en-US" sz="1400"/>
              <a:t>StatBot </a:t>
            </a:r>
            <a:r>
              <a:rPr lang="zh-CN" altLang="en-US" sz="1400"/>
              <a:t>的一次完整分析流程如下：</a:t>
            </a:r>
            <a:endParaRPr lang="zh-CN" altLang="en-US" sz="1400"/>
          </a:p>
          <a:p>
            <a:endParaRPr lang="en-US" altLang="en-US" sz="1400"/>
          </a:p>
          <a:p>
            <a:pPr marL="342900" indent="-342900">
              <a:buAutoNum type="arabicPeriod"/>
            </a:pPr>
            <a:r>
              <a:rPr lang="zh-CN" altLang="en-US" sz="1400"/>
              <a:t>用户上传数据集</a:t>
            </a:r>
            <a:endParaRPr lang="zh-CN" altLang="en-US" sz="1400"/>
          </a:p>
          <a:p>
            <a:pPr lvl="1" indent="0">
              <a:buNone/>
            </a:pPr>
            <a:r>
              <a:rPr lang="zh-CN" altLang="en-US" sz="1400"/>
              <a:t>系统读取文件，并将数据加载为</a:t>
            </a:r>
            <a:r>
              <a:rPr lang="en-US" altLang="en-US" sz="1400"/>
              <a:t> Kernel </a:t>
            </a:r>
            <a:r>
              <a:rPr lang="zh-CN" altLang="en-US" sz="1400"/>
              <a:t>中的</a:t>
            </a:r>
            <a:r>
              <a:rPr lang="en-US" altLang="en-US" sz="1400"/>
              <a:t> data </a:t>
            </a:r>
            <a:r>
              <a:rPr lang="zh-CN" altLang="en-US" sz="1400"/>
              <a:t>变量。</a:t>
            </a:r>
            <a:endParaRPr lang="zh-CN" altLang="en-US" sz="1400"/>
          </a:p>
          <a:p>
            <a:pPr marL="342900" indent="-342900">
              <a:buAutoNum type="arabicPeriod"/>
            </a:pPr>
            <a:endParaRPr lang="en-US" altLang="en-US" sz="1400"/>
          </a:p>
          <a:p>
            <a:pPr marL="342900" indent="-342900">
              <a:buAutoNum type="arabicPeriod"/>
            </a:pPr>
            <a:r>
              <a:rPr lang="zh-CN" altLang="en-US" sz="1400"/>
              <a:t>用户输入自然语言问题</a:t>
            </a:r>
            <a:endParaRPr lang="zh-CN" altLang="en-US" sz="1400"/>
          </a:p>
          <a:p>
            <a:pPr lvl="1" indent="0">
              <a:buNone/>
            </a:pPr>
            <a:r>
              <a:rPr lang="zh-CN" altLang="en-US" sz="1400"/>
              <a:t>例如：</a:t>
            </a:r>
            <a:r>
              <a:rPr lang="en-US" altLang="en-US" sz="1400"/>
              <a:t>“Run a correlation analysis among numeric variables.”</a:t>
            </a:r>
            <a:endParaRPr lang="en-US" altLang="en-US" sz="1400"/>
          </a:p>
          <a:p>
            <a:pPr marL="342900" indent="-342900">
              <a:buAutoNum type="arabicPeriod"/>
            </a:pPr>
            <a:endParaRPr lang="en-US" altLang="en-US" sz="1400"/>
          </a:p>
          <a:p>
            <a:pPr marL="342900" indent="-342900">
              <a:buAutoNum type="arabicPeriod"/>
            </a:pPr>
            <a:r>
              <a:rPr lang="zh-CN" altLang="en-US" sz="1400"/>
              <a:t>生成统计分析计划</a:t>
            </a:r>
            <a:endParaRPr lang="zh-CN" altLang="en-US" sz="1400"/>
          </a:p>
          <a:p>
            <a:pPr lvl="1" indent="0">
              <a:buNone/>
            </a:pPr>
            <a:r>
              <a:rPr lang="en-US" altLang="en-US" sz="1400"/>
              <a:t>Agent </a:t>
            </a:r>
            <a:r>
              <a:rPr lang="zh-CN" altLang="en-US" sz="1400"/>
              <a:t>先判断任务类型、变量类型、方法选择和诊断要求。</a:t>
            </a:r>
            <a:endParaRPr lang="zh-CN" altLang="en-US" sz="1400"/>
          </a:p>
          <a:p>
            <a:pPr marL="342900" indent="-342900">
              <a:buAutoNum type="arabicPeriod"/>
            </a:pPr>
            <a:endParaRPr lang="en-US" altLang="en-US" sz="1400"/>
          </a:p>
          <a:p>
            <a:pPr marL="342900" indent="-342900">
              <a:buAutoNum type="arabicPeriod"/>
            </a:pPr>
            <a:r>
              <a:rPr lang="zh-CN" altLang="en-US" sz="1400"/>
              <a:t>选择执行路径</a:t>
            </a:r>
            <a:endParaRPr lang="zh-CN" altLang="en-US" sz="1400"/>
          </a:p>
          <a:p>
            <a:pPr marL="342900" indent="-342900">
              <a:buAutoNum type="arabicPeriod"/>
            </a:pPr>
            <a:endParaRPr lang="en-US" altLang="en-US" sz="1400"/>
          </a:p>
          <a:p>
            <a:pPr lvl="1" indent="0">
              <a:buNone/>
            </a:pPr>
            <a:r>
              <a:rPr lang="zh-CN" altLang="en-US" sz="1400"/>
              <a:t>若命中内置统计工具，则使用结构化代码模板</a:t>
            </a:r>
            <a:endParaRPr lang="zh-CN" altLang="en-US" sz="1400"/>
          </a:p>
          <a:p>
            <a:pPr lvl="1" indent="0">
              <a:buNone/>
            </a:pPr>
            <a:r>
              <a:rPr lang="zh-CN" altLang="en-US" sz="1400"/>
              <a:t>若未命中，则调用</a:t>
            </a:r>
            <a:r>
              <a:rPr lang="en-US" altLang="en-US" sz="1400"/>
              <a:t> Programmer </a:t>
            </a:r>
            <a:r>
              <a:rPr lang="zh-CN" altLang="en-US" sz="1400"/>
              <a:t>模块动态生成代码</a:t>
            </a:r>
            <a:endParaRPr lang="zh-CN" altLang="en-US" sz="1400"/>
          </a:p>
          <a:p>
            <a:pPr lvl="1" indent="0">
              <a:buNone/>
            </a:pPr>
            <a:endParaRPr lang="zh-CN" altLang="en-US" sz="1400"/>
          </a:p>
          <a:p>
            <a:pPr marL="342900" indent="-342900">
              <a:buAutoNum type="arabicPeriod"/>
            </a:pPr>
            <a:r>
              <a:rPr lang="zh-CN" altLang="en-US" sz="1400"/>
              <a:t>执行</a:t>
            </a:r>
            <a:r>
              <a:rPr lang="en-US" altLang="en-US" sz="1400"/>
              <a:t> Python </a:t>
            </a:r>
            <a:r>
              <a:rPr lang="zh-CN" altLang="en-US" sz="1400"/>
              <a:t>代码</a:t>
            </a:r>
            <a:endParaRPr lang="zh-CN" altLang="en-US" sz="1400"/>
          </a:p>
          <a:p>
            <a:pPr lvl="1" indent="0">
              <a:buNone/>
            </a:pPr>
            <a:r>
              <a:rPr lang="en-US" altLang="en-US" sz="1400"/>
              <a:t>Jupyter Kernel </a:t>
            </a:r>
            <a:r>
              <a:rPr lang="zh-CN" altLang="en-US" sz="1400"/>
              <a:t>返回文本、表格、图像或错误信息。</a:t>
            </a:r>
            <a:endParaRPr lang="zh-CN" altLang="en-US" sz="1400"/>
          </a:p>
          <a:p>
            <a:pPr marL="342900" indent="-342900">
              <a:buAutoNum type="arabicPeriod"/>
            </a:pPr>
            <a:endParaRPr lang="en-US" altLang="en-US" sz="1400"/>
          </a:p>
          <a:p>
            <a:pPr marL="342900" indent="-342900">
              <a:buAutoNum type="arabicPeriod"/>
            </a:pPr>
            <a:r>
              <a:rPr lang="zh-CN" altLang="en-US" sz="1400"/>
              <a:t>错误修复</a:t>
            </a:r>
            <a:endParaRPr lang="zh-CN" altLang="en-US" sz="1400"/>
          </a:p>
          <a:p>
            <a:pPr lvl="1" indent="0">
              <a:buNone/>
            </a:pPr>
            <a:r>
              <a:rPr lang="zh-CN" altLang="en-US" sz="1400"/>
              <a:t>若代码报错，</a:t>
            </a:r>
            <a:r>
              <a:rPr lang="en-US" altLang="en-US" sz="1400"/>
              <a:t>Inspector </a:t>
            </a:r>
            <a:r>
              <a:rPr lang="zh-CN" altLang="en-US" sz="1400"/>
              <a:t>根据</a:t>
            </a:r>
            <a:r>
              <a:rPr lang="en-US" altLang="en-US" sz="1400"/>
              <a:t> traceback </a:t>
            </a:r>
            <a:r>
              <a:rPr lang="zh-CN" altLang="en-US" sz="1400"/>
              <a:t>给出修复建议，</a:t>
            </a:r>
            <a:r>
              <a:rPr lang="en-US" altLang="en-US" sz="1400"/>
              <a:t>Programmer </a:t>
            </a:r>
            <a:r>
              <a:rPr lang="zh-CN" altLang="en-US" sz="1400"/>
              <a:t>尝试修改代码。</a:t>
            </a:r>
            <a:endParaRPr lang="zh-CN" altLang="en-US" sz="1400"/>
          </a:p>
          <a:p>
            <a:pPr marL="342900" indent="-342900">
              <a:buAutoNum type="arabicPeriod"/>
            </a:pPr>
            <a:endParaRPr lang="en-US" altLang="en-US" sz="1400"/>
          </a:p>
          <a:p>
            <a:pPr marL="342900" indent="-342900">
              <a:buAutoNum type="arabicPeriod"/>
            </a:pPr>
            <a:r>
              <a:rPr lang="zh-CN" altLang="en-US" sz="1400"/>
              <a:t>解释结果</a:t>
            </a:r>
            <a:endParaRPr lang="zh-CN" altLang="en-US" sz="1400"/>
          </a:p>
          <a:p>
            <a:pPr lvl="1" indent="0">
              <a:buNone/>
            </a:pPr>
            <a:r>
              <a:rPr lang="zh-CN" altLang="en-US" sz="1400"/>
              <a:t>系统将执行输出交给模型解释，并给出后续建议。</a:t>
            </a:r>
            <a:endParaRPr lang="zh-CN" altLang="en-US" sz="1400"/>
          </a:p>
          <a:p>
            <a:pPr marL="342900" indent="-342900">
              <a:buAutoNum type="arabicPeriod"/>
            </a:pPr>
            <a:endParaRPr lang="en-US" altLang="en-US" sz="1400"/>
          </a:p>
          <a:p>
            <a:pPr marL="342900" indent="-342900">
              <a:buAutoNum type="arabicPeriod"/>
            </a:pPr>
            <a:r>
              <a:rPr lang="zh-CN" altLang="en-US" sz="1400"/>
              <a:t>保存产物</a:t>
            </a:r>
            <a:endParaRPr lang="zh-CN" altLang="en-US" sz="1400"/>
          </a:p>
          <a:p>
            <a:pPr lvl="1" indent="0">
              <a:buNone/>
            </a:pPr>
            <a:r>
              <a:rPr lang="zh-CN" altLang="en-US" sz="1400"/>
              <a:t>自动记录代码、执行摘要、图片、</a:t>
            </a:r>
            <a:r>
              <a:rPr lang="en-US" altLang="en-US" sz="1400"/>
              <a:t>Notebook </a:t>
            </a:r>
            <a:r>
              <a:rPr lang="zh-CN" altLang="en-US" sz="1400"/>
              <a:t>和报告。</a:t>
            </a:r>
            <a:endParaRPr lang="zh-CN" alt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bottom bar"/>
          <p:cNvSpPr/>
          <p:nvPr/>
        </p:nvSpPr>
        <p:spPr>
          <a:xfrm>
            <a:off x="502920" y="6565392"/>
            <a:ext cx="11183112" cy="146304"/>
          </a:xfrm>
          <a:prstGeom prst="rect">
            <a:avLst/>
          </a:prstGeom>
          <a:solidFill>
            <a:srgbClr val="2F75B5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66928" y="73152"/>
            <a:ext cx="8961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altLang="en-US" sz="1710" b="1">
                <a:solidFill>
                  <a:srgbClr val="FFFFFF"/>
                </a:solidFill>
                <a:latin typeface="Times New Roman" panose="02020603050405020304"/>
                <a:ea typeface="Microsoft YaHei"/>
                <a:cs typeface="Times New Roman" panose="02020603050405020304"/>
                <a:sym typeface="+mn-ea"/>
              </a:rPr>
              <a:t>核心设计一：统计规划模块</a:t>
            </a:r>
            <a:endParaRPr lang="zh-CN" altLang="en-US" sz="1710" b="1">
              <a:solidFill>
                <a:srgbClr val="FFFFFF"/>
              </a:solidFill>
              <a:latin typeface="Times New Roman" panose="02020603050405020304"/>
              <a:ea typeface="Microsoft YaHei"/>
              <a:cs typeface="Times New Roman" panose="020206030504050203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473960" y="457200"/>
            <a:ext cx="7205345" cy="5858510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en-US" sz="1400"/>
              <a:t>StatBot </a:t>
            </a:r>
            <a:r>
              <a:rPr lang="zh-CN" altLang="en-US" sz="1400"/>
              <a:t>在生成代码前，会先进行统计分析规划，避免直接写代码导致方法选择随意或遗漏关键诊断步骤。</a:t>
            </a:r>
            <a:endParaRPr lang="zh-CN" altLang="en-US" sz="1400"/>
          </a:p>
          <a:p>
            <a:endParaRPr lang="en-US" altLang="en-US" sz="1400"/>
          </a:p>
          <a:p>
            <a:r>
              <a:rPr lang="zh-CN" altLang="en-US" sz="1400"/>
              <a:t>统计规划包含六个部分：</a:t>
            </a:r>
            <a:endParaRPr lang="zh-CN" altLang="en-US" sz="1400"/>
          </a:p>
          <a:p>
            <a:endParaRPr lang="en-US" altLang="en-US" sz="1400"/>
          </a:p>
          <a:p>
            <a:r>
              <a:rPr lang="en-US" altLang="en-US" sz="1400"/>
              <a:t>1. </a:t>
            </a:r>
            <a:r>
              <a:rPr lang="zh-CN" altLang="en-US" sz="1400"/>
              <a:t>数据概览检查</a:t>
            </a:r>
            <a:endParaRPr lang="zh-CN" altLang="en-US" sz="1400"/>
          </a:p>
          <a:p>
            <a:pPr indent="457200"/>
            <a:r>
              <a:rPr lang="zh-CN" altLang="en-US" sz="1400"/>
              <a:t>检查数据行列数、字段类型、缺失值、重复行和基础统计量，确认数据是否适合进一步分析。</a:t>
            </a:r>
            <a:endParaRPr lang="zh-CN" altLang="en-US" sz="1400"/>
          </a:p>
          <a:p>
            <a:endParaRPr lang="en-US" altLang="en-US" sz="1400"/>
          </a:p>
          <a:p>
            <a:r>
              <a:rPr lang="en-US" altLang="en-US" sz="1400"/>
              <a:t>2. </a:t>
            </a:r>
            <a:r>
              <a:rPr lang="zh-CN" altLang="en-US" sz="1400"/>
              <a:t>研究问题与任务类型识别</a:t>
            </a:r>
            <a:endParaRPr lang="zh-CN" altLang="en-US" sz="1400"/>
          </a:p>
          <a:p>
            <a:pPr indent="457200"/>
            <a:r>
              <a:rPr lang="zh-CN" altLang="en-US" sz="1400"/>
              <a:t>判断用户需求属于描述统计、分组比较、相关分析、回归建模、分类预测、时间趋势分析还是可视化任务。</a:t>
            </a:r>
            <a:endParaRPr lang="zh-CN" altLang="en-US" sz="1400"/>
          </a:p>
          <a:p>
            <a:endParaRPr lang="en-US" altLang="en-US" sz="1400"/>
          </a:p>
          <a:p>
            <a:r>
              <a:rPr lang="en-US" altLang="en-US" sz="1400"/>
              <a:t>3. </a:t>
            </a:r>
            <a:r>
              <a:rPr lang="zh-CN" altLang="en-US" sz="1400"/>
              <a:t>统计方法选择</a:t>
            </a:r>
            <a:endParaRPr lang="zh-CN" altLang="en-US" sz="1400"/>
          </a:p>
          <a:p>
            <a:pPr indent="457200"/>
            <a:r>
              <a:rPr lang="zh-CN" altLang="en-US" sz="1400"/>
              <a:t>根据变量类型、样本量、分组数量和研究目标，选择合适的统计检验、相关分析或回归模型。</a:t>
            </a:r>
            <a:endParaRPr lang="zh-CN" altLang="en-US" sz="1400"/>
          </a:p>
          <a:p>
            <a:endParaRPr lang="en-US" altLang="en-US" sz="1400"/>
          </a:p>
          <a:p>
            <a:r>
              <a:rPr lang="en-US" altLang="en-US" sz="1400"/>
              <a:t>4. </a:t>
            </a:r>
            <a:r>
              <a:rPr lang="zh-CN" altLang="en-US" sz="1400"/>
              <a:t>假设与诊断检查</a:t>
            </a:r>
            <a:endParaRPr lang="zh-CN" altLang="en-US" sz="1400"/>
          </a:p>
          <a:p>
            <a:pPr indent="457200"/>
            <a:r>
              <a:rPr lang="zh-CN" altLang="en-US" sz="1400"/>
              <a:t>在分析前或分析过程中检查正态性、方差齐性、异常值、多重共线性、残差分布等统计假设。</a:t>
            </a:r>
            <a:endParaRPr lang="zh-CN" altLang="en-US" sz="1400"/>
          </a:p>
          <a:p>
            <a:endParaRPr lang="en-US" altLang="en-US" sz="1400"/>
          </a:p>
          <a:p>
            <a:r>
              <a:rPr lang="en-US" altLang="en-US" sz="1400"/>
              <a:t>5. </a:t>
            </a:r>
            <a:r>
              <a:rPr lang="zh-CN" altLang="en-US" sz="1400"/>
              <a:t>推断与建模输出</a:t>
            </a:r>
            <a:endParaRPr lang="zh-CN" altLang="en-US" sz="1400"/>
          </a:p>
          <a:p>
            <a:pPr indent="457200"/>
            <a:r>
              <a:rPr lang="zh-CN" altLang="en-US" sz="1400"/>
              <a:t>输出统计量、</a:t>
            </a:r>
            <a:r>
              <a:rPr lang="en-US" altLang="en-US" sz="1400"/>
              <a:t>p </a:t>
            </a:r>
            <a:r>
              <a:rPr lang="zh-CN" altLang="en-US" sz="1400"/>
              <a:t>值、置信区间、效应量、模型系数、拟合优度和诊断指标。</a:t>
            </a:r>
            <a:endParaRPr lang="zh-CN" altLang="en-US" sz="1400"/>
          </a:p>
          <a:p>
            <a:endParaRPr lang="en-US" altLang="en-US" sz="1400"/>
          </a:p>
          <a:p>
            <a:r>
              <a:rPr lang="en-US" altLang="en-US" sz="1400"/>
              <a:t>6. </a:t>
            </a:r>
            <a:r>
              <a:rPr lang="zh-CN" altLang="en-US" sz="1400"/>
              <a:t>结果解释与后续建议</a:t>
            </a:r>
            <a:endParaRPr lang="zh-CN" altLang="en-US" sz="1400"/>
          </a:p>
          <a:p>
            <a:pPr indent="457200"/>
            <a:r>
              <a:rPr lang="zh-CN" altLang="en-US" sz="1400"/>
              <a:t>用自然语言解释统计结果，并给出下一步分析方向，例如稳健性检验、替代模型或进一步可视化。</a:t>
            </a:r>
            <a:endParaRPr lang="zh-CN" altLang="en-US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bottom bar"/>
          <p:cNvSpPr/>
          <p:nvPr/>
        </p:nvSpPr>
        <p:spPr>
          <a:xfrm>
            <a:off x="502920" y="6565392"/>
            <a:ext cx="11183112" cy="146304"/>
          </a:xfrm>
          <a:prstGeom prst="rect">
            <a:avLst/>
          </a:prstGeom>
          <a:solidFill>
            <a:srgbClr val="2F75B5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66928" y="73152"/>
            <a:ext cx="8961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zh-CN" altLang="en-US" sz="1710" b="1">
                <a:solidFill>
                  <a:srgbClr val="FFFFFF"/>
                </a:solidFill>
                <a:latin typeface="Times New Roman" panose="02020603050405020304"/>
                <a:ea typeface="Microsoft YaHei"/>
                <a:cs typeface="Times New Roman" panose="02020603050405020304"/>
              </a:rPr>
              <a:t>核心设计二：内置统计工具注册表</a:t>
            </a:r>
            <a:endParaRPr lang="zh-CN" altLang="en-US" sz="1710" b="1">
              <a:solidFill>
                <a:srgbClr val="FFFFFF"/>
              </a:solidFill>
              <a:latin typeface="Times New Roman" panose="02020603050405020304"/>
              <a:ea typeface="Microsoft YaHei"/>
              <a:cs typeface="Times New Roman" panose="020206030504050203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641340" y="711200"/>
            <a:ext cx="3653790" cy="287464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200"/>
              <a:t>项目在</a:t>
            </a:r>
            <a:r>
              <a:rPr lang="en-US" altLang="en-US" sz="1200"/>
              <a:t> builtin_skills.py </a:t>
            </a:r>
            <a:r>
              <a:rPr lang="zh-CN" altLang="en-US" sz="1200"/>
              <a:t>中实现了统计工具注册表。</a:t>
            </a:r>
            <a:endParaRPr lang="zh-CN" altLang="en-US" sz="1200"/>
          </a:p>
          <a:p>
            <a:endParaRPr lang="en-US" altLang="en-US" sz="1200"/>
          </a:p>
          <a:p>
            <a:r>
              <a:rPr lang="zh-CN" altLang="en-US" sz="1200" b="1"/>
              <a:t>每个工具包含：</a:t>
            </a:r>
            <a:endParaRPr lang="zh-CN" altLang="en-US" sz="1200" b="1"/>
          </a:p>
          <a:p>
            <a:endParaRPr lang="en-US" altLang="en-US" sz="1200"/>
          </a:p>
          <a:p>
            <a:r>
              <a:rPr lang="en-US" altLang="en-US" sz="1200"/>
              <a:t>name</a:t>
            </a:r>
            <a:r>
              <a:rPr lang="zh-CN" altLang="en-US" sz="1200"/>
              <a:t>：工具名称</a:t>
            </a:r>
            <a:endParaRPr lang="zh-CN" altLang="en-US" sz="1200"/>
          </a:p>
          <a:p>
            <a:r>
              <a:rPr lang="en-US" altLang="en-US" sz="1200"/>
              <a:t>category</a:t>
            </a:r>
            <a:r>
              <a:rPr lang="zh-CN" altLang="en-US" sz="1200"/>
              <a:t>：工具类别</a:t>
            </a:r>
            <a:endParaRPr lang="zh-CN" altLang="en-US" sz="1200"/>
          </a:p>
          <a:p>
            <a:r>
              <a:rPr lang="en-US" altLang="en-US" sz="1200"/>
              <a:t>description</a:t>
            </a:r>
            <a:r>
              <a:rPr lang="zh-CN" altLang="en-US" sz="1200"/>
              <a:t>：功能说明</a:t>
            </a:r>
            <a:endParaRPr lang="zh-CN" altLang="en-US" sz="1200"/>
          </a:p>
          <a:p>
            <a:r>
              <a:rPr lang="en-US" altLang="en-US" sz="1200"/>
              <a:t>matcher</a:t>
            </a:r>
            <a:r>
              <a:rPr lang="zh-CN" altLang="en-US" sz="1200"/>
              <a:t>：判断用户请求是否匹配该工具</a:t>
            </a:r>
            <a:endParaRPr lang="zh-CN" altLang="en-US" sz="1200"/>
          </a:p>
          <a:p>
            <a:r>
              <a:rPr lang="en-US" altLang="en-US" sz="1200"/>
              <a:t>builder</a:t>
            </a:r>
            <a:r>
              <a:rPr lang="zh-CN" altLang="en-US" sz="1200"/>
              <a:t>：生成可执行</a:t>
            </a:r>
            <a:r>
              <a:rPr lang="en-US" altLang="en-US" sz="1200"/>
              <a:t> Python </a:t>
            </a:r>
            <a:r>
              <a:rPr lang="zh-CN" altLang="en-US" sz="1200"/>
              <a:t>代码</a:t>
            </a:r>
            <a:endParaRPr lang="zh-CN" altLang="en-US" sz="1200"/>
          </a:p>
          <a:p>
            <a:r>
              <a:rPr lang="en-US" altLang="en-US" sz="1200"/>
              <a:t>rationale</a:t>
            </a:r>
            <a:r>
              <a:rPr lang="zh-CN" altLang="en-US" sz="1200"/>
              <a:t>：选择该工具的理由</a:t>
            </a:r>
            <a:endParaRPr lang="zh-CN" altLang="en-US" sz="1200"/>
          </a:p>
          <a:p>
            <a:r>
              <a:rPr lang="en-US" altLang="en-US" sz="1200"/>
              <a:t>assumptions</a:t>
            </a:r>
            <a:r>
              <a:rPr lang="zh-CN" altLang="en-US" sz="1200"/>
              <a:t>：对应统计假设</a:t>
            </a:r>
            <a:endParaRPr lang="zh-CN" altLang="en-US" sz="1200"/>
          </a:p>
          <a:p>
            <a:endParaRPr lang="zh-CN" altLang="en-US" sz="1200"/>
          </a:p>
          <a:p>
            <a:endParaRPr lang="zh-CN" altLang="en-US" sz="1200" b="1"/>
          </a:p>
          <a:p>
            <a:endParaRPr lang="zh-CN" altLang="en-US" sz="1200"/>
          </a:p>
        </p:txBody>
      </p:sp>
      <p:sp>
        <p:nvSpPr>
          <p:cNvPr id="6" name="Text Box 5"/>
          <p:cNvSpPr txBox="1"/>
          <p:nvPr/>
        </p:nvSpPr>
        <p:spPr>
          <a:xfrm>
            <a:off x="711200" y="457200"/>
            <a:ext cx="6935470" cy="57975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altLang="en-US" sz="1200">
                <a:sym typeface="+mn-ea"/>
              </a:rPr>
              <a:t>已支持的统计能力：</a:t>
            </a:r>
            <a:endParaRPr lang="zh-CN" altLang="en-US" sz="1200"/>
          </a:p>
          <a:p>
            <a:endParaRPr lang="en-US" altLang="en-US" sz="1200"/>
          </a:p>
          <a:p>
            <a:r>
              <a:rPr altLang="en-US" sz="1200" b="1">
                <a:sym typeface="+mn-ea"/>
              </a:rPr>
              <a:t>描述统计与数据质量：</a:t>
            </a:r>
            <a:endParaRPr lang="zh-CN" altLang="en-US" sz="1200" b="1"/>
          </a:p>
          <a:p>
            <a:endParaRPr lang="en-US" altLang="en-US" sz="1200"/>
          </a:p>
          <a:p>
            <a:pPr lvl="1"/>
            <a:r>
              <a:rPr altLang="en-US" sz="1200">
                <a:sym typeface="+mn-ea"/>
              </a:rPr>
              <a:t>数据概览</a:t>
            </a:r>
            <a:endParaRPr lang="zh-CN" altLang="en-US" sz="1200"/>
          </a:p>
          <a:p>
            <a:pPr lvl="1"/>
            <a:r>
              <a:rPr altLang="en-US" sz="1200">
                <a:sym typeface="+mn-ea"/>
              </a:rPr>
              <a:t>描述统计</a:t>
            </a:r>
            <a:endParaRPr lang="zh-CN" altLang="en-US" sz="1200"/>
          </a:p>
          <a:p>
            <a:pPr lvl="1"/>
            <a:r>
              <a:rPr altLang="en-US" sz="1200">
                <a:sym typeface="+mn-ea"/>
              </a:rPr>
              <a:t>缺失值分析</a:t>
            </a:r>
            <a:endParaRPr lang="zh-CN" altLang="en-US" sz="1200"/>
          </a:p>
          <a:p>
            <a:pPr lvl="1"/>
            <a:r>
              <a:rPr altLang="en-US" sz="1200">
                <a:sym typeface="+mn-ea"/>
              </a:rPr>
              <a:t>异常值筛查</a:t>
            </a:r>
            <a:endParaRPr lang="zh-CN" altLang="en-US" sz="1200"/>
          </a:p>
          <a:p>
            <a:pPr lvl="1"/>
            <a:r>
              <a:rPr altLang="en-US" sz="1200">
                <a:sym typeface="+mn-ea"/>
              </a:rPr>
              <a:t>分组统计</a:t>
            </a:r>
            <a:endParaRPr lang="zh-CN" altLang="en-US" sz="1200"/>
          </a:p>
          <a:p>
            <a:pPr lvl="1"/>
            <a:r>
              <a:rPr altLang="en-US" sz="1200">
                <a:sym typeface="+mn-ea"/>
              </a:rPr>
              <a:t>类别频数统计</a:t>
            </a:r>
            <a:endParaRPr lang="zh-CN" altLang="en-US" sz="1200"/>
          </a:p>
          <a:p>
            <a:pPr lvl="1"/>
            <a:r>
              <a:rPr altLang="en-US" sz="1200">
                <a:sym typeface="+mn-ea"/>
              </a:rPr>
              <a:t>列联表汇总</a:t>
            </a:r>
            <a:endParaRPr lang="zh-CN" altLang="en-US" sz="1200"/>
          </a:p>
          <a:p>
            <a:endParaRPr altLang="en-US" sz="1200" b="1">
              <a:sym typeface="+mn-ea"/>
            </a:endParaRPr>
          </a:p>
          <a:p>
            <a:r>
              <a:rPr altLang="en-US" sz="1200" b="1">
                <a:sym typeface="+mn-ea"/>
              </a:rPr>
              <a:t>假设检验：</a:t>
            </a:r>
            <a:endParaRPr lang="zh-CN" altLang="en-US" sz="1200" b="1"/>
          </a:p>
          <a:p>
            <a:endParaRPr lang="en-US" altLang="en-US" sz="1200"/>
          </a:p>
          <a:p>
            <a:pPr lvl="1"/>
            <a:r>
              <a:rPr lang="en-US" altLang="en-US" sz="1200">
                <a:sym typeface="+mn-ea"/>
              </a:rPr>
              <a:t>t </a:t>
            </a:r>
            <a:r>
              <a:rPr altLang="en-US" sz="1200">
                <a:sym typeface="+mn-ea"/>
              </a:rPr>
              <a:t>检验</a:t>
            </a:r>
            <a:endParaRPr lang="zh-CN" altLang="en-US" sz="1200"/>
          </a:p>
          <a:p>
            <a:pPr lvl="1"/>
            <a:r>
              <a:rPr lang="en-US" altLang="en-US" sz="1200">
                <a:sym typeface="+mn-ea"/>
              </a:rPr>
              <a:t>Wilcoxon </a:t>
            </a:r>
            <a:r>
              <a:rPr altLang="en-US" sz="1200">
                <a:sym typeface="+mn-ea"/>
              </a:rPr>
              <a:t>符号秩检验</a:t>
            </a:r>
            <a:endParaRPr lang="zh-CN" altLang="en-US" sz="1200"/>
          </a:p>
          <a:p>
            <a:pPr lvl="1"/>
            <a:r>
              <a:rPr lang="en-US" altLang="en-US" sz="1200">
                <a:sym typeface="+mn-ea"/>
              </a:rPr>
              <a:t>Mann-Whitney U </a:t>
            </a:r>
            <a:r>
              <a:rPr altLang="en-US" sz="1200">
                <a:sym typeface="+mn-ea"/>
              </a:rPr>
              <a:t>检验</a:t>
            </a:r>
            <a:endParaRPr lang="zh-CN" altLang="en-US" sz="1200"/>
          </a:p>
          <a:p>
            <a:pPr lvl="1"/>
            <a:r>
              <a:rPr lang="en-US" altLang="en-US" sz="1200">
                <a:sym typeface="+mn-ea"/>
              </a:rPr>
              <a:t>ANOVA</a:t>
            </a:r>
            <a:endParaRPr lang="en-US" altLang="en-US" sz="1200"/>
          </a:p>
          <a:p>
            <a:pPr lvl="1"/>
            <a:r>
              <a:rPr lang="en-US" altLang="en-US" sz="1200">
                <a:sym typeface="+mn-ea"/>
              </a:rPr>
              <a:t>Kruskal-Wallis </a:t>
            </a:r>
            <a:r>
              <a:rPr altLang="en-US" sz="1200">
                <a:sym typeface="+mn-ea"/>
              </a:rPr>
              <a:t>检验</a:t>
            </a:r>
            <a:endParaRPr lang="zh-CN" altLang="en-US" sz="1200"/>
          </a:p>
          <a:p>
            <a:pPr lvl="1"/>
            <a:r>
              <a:rPr altLang="en-US" sz="1200">
                <a:sym typeface="+mn-ea"/>
              </a:rPr>
              <a:t>卡方检验</a:t>
            </a:r>
            <a:endParaRPr lang="zh-CN" altLang="en-US" sz="1200"/>
          </a:p>
          <a:p>
            <a:pPr lvl="1"/>
            <a:r>
              <a:rPr lang="en-US" altLang="en-US" sz="1200">
                <a:sym typeface="+mn-ea"/>
              </a:rPr>
              <a:t>Fisher </a:t>
            </a:r>
            <a:r>
              <a:rPr altLang="en-US" sz="1200">
                <a:sym typeface="+mn-ea"/>
              </a:rPr>
              <a:t>精确检验</a:t>
            </a:r>
            <a:endParaRPr lang="zh-CN" altLang="en-US" sz="1200"/>
          </a:p>
          <a:p>
            <a:pPr lvl="1"/>
            <a:r>
              <a:rPr altLang="en-US" sz="1200">
                <a:sym typeface="+mn-ea"/>
              </a:rPr>
              <a:t>双比例检验</a:t>
            </a:r>
            <a:endParaRPr altLang="en-US" sz="1200">
              <a:sym typeface="+mn-ea"/>
            </a:endParaRPr>
          </a:p>
          <a:p>
            <a:endParaRPr lang="zh-CN" altLang="en-US" sz="1200"/>
          </a:p>
          <a:p>
            <a:r>
              <a:rPr altLang="en-US" sz="1200" b="1">
                <a:sym typeface="+mn-ea"/>
              </a:rPr>
              <a:t>关系分析与建模：</a:t>
            </a:r>
            <a:endParaRPr lang="zh-CN" altLang="en-US" sz="1200" b="1"/>
          </a:p>
          <a:p>
            <a:endParaRPr lang="en-US" altLang="en-US" sz="1200"/>
          </a:p>
          <a:p>
            <a:pPr lvl="1"/>
            <a:r>
              <a:rPr lang="en-US" altLang="en-US" sz="1200">
                <a:sym typeface="+mn-ea"/>
              </a:rPr>
              <a:t>Pearson / Spearman </a:t>
            </a:r>
            <a:r>
              <a:rPr altLang="en-US" sz="1200">
                <a:sym typeface="+mn-ea"/>
              </a:rPr>
              <a:t>相关分析</a:t>
            </a:r>
            <a:endParaRPr lang="zh-CN" altLang="en-US" sz="1200"/>
          </a:p>
          <a:p>
            <a:pPr lvl="1"/>
            <a:r>
              <a:rPr lang="en-US" altLang="en-US" sz="1200">
                <a:sym typeface="+mn-ea"/>
              </a:rPr>
              <a:t>OLS </a:t>
            </a:r>
            <a:r>
              <a:rPr altLang="en-US" sz="1200">
                <a:sym typeface="+mn-ea"/>
              </a:rPr>
              <a:t>线性回归</a:t>
            </a:r>
            <a:endParaRPr lang="zh-CN" altLang="en-US" sz="1200"/>
          </a:p>
          <a:p>
            <a:pPr lvl="1"/>
            <a:r>
              <a:rPr lang="en-US" altLang="en-US" sz="1200">
                <a:sym typeface="+mn-ea"/>
              </a:rPr>
              <a:t>Logistic </a:t>
            </a:r>
            <a:r>
              <a:rPr altLang="en-US" sz="1200">
                <a:sym typeface="+mn-ea"/>
              </a:rPr>
              <a:t>回归</a:t>
            </a:r>
            <a:endParaRPr lang="zh-CN" altLang="en-US" sz="1200"/>
          </a:p>
          <a:p>
            <a:pPr lvl="1"/>
            <a:r>
              <a:rPr altLang="en-US" sz="1200">
                <a:sym typeface="+mn-ea"/>
              </a:rPr>
              <a:t>趋势分析与可视化</a:t>
            </a:r>
            <a:endParaRPr lang="en-US" altLang="en-US" sz="1200"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bottom bar"/>
          <p:cNvSpPr/>
          <p:nvPr/>
        </p:nvSpPr>
        <p:spPr>
          <a:xfrm>
            <a:off x="502920" y="6565392"/>
            <a:ext cx="11183112" cy="146304"/>
          </a:xfrm>
          <a:prstGeom prst="rect">
            <a:avLst/>
          </a:prstGeom>
          <a:solidFill>
            <a:srgbClr val="2F75B5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66928" y="73152"/>
            <a:ext cx="8961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zh-CN" altLang="en-US" sz="1710" b="1">
                <a:solidFill>
                  <a:srgbClr val="FFFFFF"/>
                </a:solidFill>
                <a:latin typeface="Times New Roman" panose="02020603050405020304"/>
                <a:ea typeface="Microsoft YaHei"/>
                <a:cs typeface="Times New Roman" panose="02020603050405020304"/>
              </a:rPr>
              <a:t>核心设计三：</a:t>
            </a:r>
            <a:r>
              <a:rPr lang="en-US" altLang="en-US" sz="1710" b="1">
                <a:solidFill>
                  <a:srgbClr val="FFFFFF"/>
                </a:solidFill>
                <a:latin typeface="Times New Roman" panose="02020603050405020304"/>
                <a:ea typeface="Microsoft YaHei"/>
                <a:cs typeface="Times New Roman" panose="02020603050405020304"/>
              </a:rPr>
              <a:t>Jupyter Kernel </a:t>
            </a:r>
            <a:r>
              <a:rPr lang="zh-CN" altLang="en-US" sz="1710" b="1">
                <a:solidFill>
                  <a:srgbClr val="FFFFFF"/>
                </a:solidFill>
                <a:latin typeface="Times New Roman" panose="02020603050405020304"/>
                <a:ea typeface="Microsoft YaHei"/>
                <a:cs typeface="Times New Roman" panose="02020603050405020304"/>
              </a:rPr>
              <a:t>执行环境</a:t>
            </a:r>
            <a:endParaRPr lang="zh-CN" altLang="en-US" sz="1710" b="1">
              <a:solidFill>
                <a:srgbClr val="FFFFFF"/>
              </a:solidFill>
              <a:latin typeface="Times New Roman" panose="02020603050405020304"/>
              <a:ea typeface="Microsoft YaHei"/>
              <a:cs typeface="Times New Roman" panose="020206030504050203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945890" y="457200"/>
            <a:ext cx="4297045" cy="6052185"/>
          </a:xfrm>
          <a:prstGeom prst="rect">
            <a:avLst/>
          </a:prstGeom>
        </p:spPr>
        <p:txBody>
          <a:bodyPr>
            <a:noAutofit/>
          </a:bodyPr>
          <a:p>
            <a:pPr algn="l"/>
            <a:r>
              <a:rPr lang="en-US" altLang="en-US" sz="1400"/>
              <a:t>StatBot </a:t>
            </a:r>
            <a:r>
              <a:rPr lang="zh-CN" altLang="en-US" sz="1400"/>
              <a:t>使用</a:t>
            </a:r>
            <a:r>
              <a:rPr lang="en-US" altLang="en-US" sz="1400"/>
              <a:t> Jupyter Kernel </a:t>
            </a:r>
            <a:r>
              <a:rPr lang="zh-CN" altLang="en-US" sz="1400"/>
              <a:t>作为代码执行环境。</a:t>
            </a:r>
            <a:endParaRPr lang="zh-CN" altLang="en-US" sz="1400"/>
          </a:p>
          <a:p>
            <a:pPr algn="l"/>
            <a:endParaRPr lang="en-US" altLang="en-US" sz="1400"/>
          </a:p>
          <a:p>
            <a:pPr algn="l"/>
            <a:r>
              <a:rPr lang="zh-CN" altLang="en-US" sz="1400" b="1"/>
              <a:t>执行环境的作用：</a:t>
            </a:r>
            <a:endParaRPr lang="zh-CN" altLang="en-US" sz="1400" b="1"/>
          </a:p>
          <a:p>
            <a:pPr algn="l"/>
            <a:endParaRPr lang="en-US" altLang="en-US" sz="1400"/>
          </a:p>
          <a:p>
            <a:pPr marL="285750" indent="-285750" algn="l">
              <a:buFont typeface="Arial" panose="020B0704020202020204" pitchFamily="34" charset="0"/>
              <a:buChar char="•"/>
            </a:pPr>
            <a:r>
              <a:rPr lang="zh-CN" altLang="en-US" sz="1400"/>
              <a:t>运行</a:t>
            </a:r>
            <a:r>
              <a:rPr lang="en-US" altLang="en-US" sz="1400"/>
              <a:t> Agent </a:t>
            </a:r>
            <a:r>
              <a:rPr lang="zh-CN" altLang="en-US" sz="1400"/>
              <a:t>生成的</a:t>
            </a:r>
            <a:r>
              <a:rPr lang="en-US" altLang="en-US" sz="1400"/>
              <a:t> Python </a:t>
            </a:r>
            <a:r>
              <a:rPr lang="zh-CN" altLang="en-US" sz="1400"/>
              <a:t>代码</a:t>
            </a:r>
            <a:endParaRPr lang="zh-CN" altLang="en-US" sz="1400"/>
          </a:p>
          <a:p>
            <a:pPr marL="285750" indent="-285750" algn="l">
              <a:buFont typeface="Arial" panose="020B0704020202020204" pitchFamily="34" charset="0"/>
              <a:buChar char="•"/>
            </a:pPr>
            <a:r>
              <a:rPr lang="zh-CN" altLang="en-US" sz="1400"/>
              <a:t>保留跨轮变量，例如上传后的</a:t>
            </a:r>
            <a:r>
              <a:rPr lang="en-US" altLang="en-US" sz="1400"/>
              <a:t> data</a:t>
            </a:r>
            <a:endParaRPr lang="en-US" altLang="en-US" sz="1400"/>
          </a:p>
          <a:p>
            <a:pPr marL="285750" indent="-285750" algn="l">
              <a:buFont typeface="Arial" panose="020B0704020202020204" pitchFamily="34" charset="0"/>
              <a:buChar char="•"/>
            </a:pPr>
            <a:r>
              <a:rPr lang="zh-CN" altLang="en-US" sz="1400"/>
              <a:t>捕获标准输出、表格、图片和错误信息</a:t>
            </a:r>
            <a:endParaRPr lang="zh-CN" altLang="en-US" sz="1400"/>
          </a:p>
          <a:p>
            <a:pPr marL="285750" indent="-285750" algn="l">
              <a:buFont typeface="Arial" panose="020B0704020202020204" pitchFamily="34" charset="0"/>
              <a:buChar char="•"/>
            </a:pPr>
            <a:r>
              <a:rPr lang="zh-CN" altLang="en-US" sz="1400"/>
              <a:t>将执行历史写入</a:t>
            </a:r>
            <a:r>
              <a:rPr lang="en-US" altLang="en-US" sz="1400"/>
              <a:t> Notebook</a:t>
            </a:r>
            <a:endParaRPr lang="en-US" altLang="en-US" sz="1400"/>
          </a:p>
          <a:p>
            <a:pPr marL="285750" indent="-285750" algn="l">
              <a:buFont typeface="Arial" panose="020B0704020202020204" pitchFamily="34" charset="0"/>
              <a:buChar char="•"/>
            </a:pPr>
            <a:r>
              <a:rPr lang="zh-CN" altLang="en-US" sz="1400"/>
              <a:t>支持用户下载</a:t>
            </a:r>
            <a:r>
              <a:rPr lang="en-US" altLang="en-US" sz="1400"/>
              <a:t> notebook.ipynb</a:t>
            </a:r>
            <a:endParaRPr lang="zh-CN" altLang="en-US" sz="1400" b="1"/>
          </a:p>
          <a:p>
            <a:pPr algn="l"/>
            <a:endParaRPr lang="zh-CN" altLang="en-US" sz="1400" b="1"/>
          </a:p>
          <a:p>
            <a:pPr algn="l"/>
            <a:r>
              <a:rPr lang="zh-CN" altLang="en-US" sz="1400" b="1"/>
              <a:t>执行输出类型：</a:t>
            </a:r>
            <a:endParaRPr lang="zh-CN" altLang="en-US" sz="1400" b="1"/>
          </a:p>
          <a:p>
            <a:pPr algn="l"/>
            <a:endParaRPr lang="en-US" altLang="en-US" sz="1400"/>
          </a:p>
          <a:p>
            <a:pPr marL="285750" indent="-285750" algn="l">
              <a:buFont typeface="Arial" panose="020B0704020202020204" pitchFamily="34" charset="0"/>
              <a:buChar char="•"/>
            </a:pPr>
            <a:r>
              <a:rPr lang="zh-CN" altLang="en-US" sz="1400"/>
              <a:t>文本输出</a:t>
            </a:r>
            <a:endParaRPr lang="zh-CN" altLang="en-US" sz="1400"/>
          </a:p>
          <a:p>
            <a:pPr lvl="1" indent="0" algn="l">
              <a:buFont typeface="Arial" panose="020B0704020202020204" pitchFamily="34" charset="0"/>
              <a:buNone/>
            </a:pPr>
            <a:r>
              <a:rPr lang="zh-CN" altLang="en-US" sz="1400"/>
              <a:t>例如行列数、统计检验结果、模型摘要。</a:t>
            </a:r>
            <a:endParaRPr lang="en-US" altLang="en-US" sz="1400"/>
          </a:p>
          <a:p>
            <a:pPr marL="285750" indent="-285750" algn="l">
              <a:buFont typeface="Arial" panose="020B0704020202020204" pitchFamily="34" charset="0"/>
              <a:buChar char="•"/>
            </a:pPr>
            <a:r>
              <a:rPr lang="zh-CN" altLang="en-US" sz="1400"/>
              <a:t>表格输出</a:t>
            </a:r>
            <a:endParaRPr lang="zh-CN" altLang="en-US" sz="1400"/>
          </a:p>
          <a:p>
            <a:pPr lvl="1" indent="0" algn="l">
              <a:buFont typeface="Arial" panose="020B0704020202020204" pitchFamily="34" charset="0"/>
              <a:buNone/>
            </a:pPr>
            <a:r>
              <a:rPr lang="zh-CN" altLang="en-US" sz="1400"/>
              <a:t>例如描述统计表、相关矩阵、</a:t>
            </a:r>
            <a:r>
              <a:rPr lang="en-US" altLang="en-US" sz="1400"/>
              <a:t>VIF </a:t>
            </a:r>
            <a:r>
              <a:rPr lang="zh-CN" altLang="en-US" sz="1400"/>
              <a:t>表。</a:t>
            </a:r>
            <a:endParaRPr lang="en-US" altLang="en-US" sz="1400"/>
          </a:p>
          <a:p>
            <a:pPr marL="285750" indent="-285750" algn="l">
              <a:buFont typeface="Arial" panose="020B0704020202020204" pitchFamily="34" charset="0"/>
              <a:buChar char="•"/>
            </a:pPr>
            <a:r>
              <a:rPr lang="zh-CN" altLang="en-US" sz="1400"/>
              <a:t>图像输出</a:t>
            </a:r>
            <a:endParaRPr lang="zh-CN" altLang="en-US" sz="1400"/>
          </a:p>
          <a:p>
            <a:pPr lvl="1" indent="0" algn="l">
              <a:buFont typeface="Arial" panose="020B0704020202020204" pitchFamily="34" charset="0"/>
              <a:buNone/>
            </a:pPr>
            <a:r>
              <a:rPr lang="zh-CN" altLang="en-US" sz="1400"/>
              <a:t>例如热力图、箱线图、残差图、分布图。</a:t>
            </a:r>
            <a:endParaRPr lang="en-US" altLang="en-US" sz="1400"/>
          </a:p>
          <a:p>
            <a:pPr marL="285750" indent="-285750" algn="l">
              <a:buFont typeface="Arial" panose="020B0704020202020204" pitchFamily="34" charset="0"/>
              <a:buChar char="•"/>
            </a:pPr>
            <a:r>
              <a:rPr lang="zh-CN" altLang="en-US" sz="1400"/>
              <a:t>错误输出</a:t>
            </a:r>
            <a:endParaRPr lang="zh-CN" altLang="en-US" sz="1400"/>
          </a:p>
          <a:p>
            <a:pPr lvl="1" indent="0" algn="l">
              <a:buFont typeface="Arial" panose="020B0704020202020204" pitchFamily="34" charset="0"/>
              <a:buNone/>
            </a:pPr>
            <a:r>
              <a:rPr lang="zh-CN" altLang="en-US" sz="1400"/>
              <a:t>捕获</a:t>
            </a:r>
            <a:r>
              <a:rPr lang="en-US" altLang="en-US" sz="1400"/>
              <a:t> traceback</a:t>
            </a:r>
            <a:r>
              <a:rPr lang="zh-CN" altLang="en-US" sz="1400"/>
              <a:t>，并交给</a:t>
            </a:r>
            <a:r>
              <a:rPr lang="en-US" altLang="en-US" sz="1400"/>
              <a:t> Inspector </a:t>
            </a:r>
            <a:r>
              <a:rPr lang="zh-CN" altLang="en-US" sz="1400"/>
              <a:t>尝试修复。</a:t>
            </a:r>
            <a:endParaRPr lang="zh-CN" altLang="en-US" sz="1400"/>
          </a:p>
          <a:p>
            <a:pPr algn="l"/>
            <a:endParaRPr lang="en-US" altLang="en-US" sz="1400"/>
          </a:p>
          <a:p>
            <a:pPr algn="l"/>
            <a:r>
              <a:rPr lang="zh-CN" altLang="en-US" sz="1400" b="1"/>
              <a:t>项目价值：</a:t>
            </a:r>
            <a:endParaRPr lang="zh-CN" altLang="en-US" sz="1400" b="1"/>
          </a:p>
          <a:p>
            <a:pPr algn="l"/>
            <a:endParaRPr lang="en-US" altLang="en-US" sz="1400"/>
          </a:p>
          <a:p>
            <a:pPr marL="171450" indent="-171450" algn="l">
              <a:buFont typeface="Arial" panose="020B0704020202020204" pitchFamily="34" charset="0"/>
              <a:buChar char="•"/>
            </a:pPr>
            <a:r>
              <a:rPr lang="zh-CN" altLang="en-US" sz="1400"/>
              <a:t>分析结果来自真实代码执行</a:t>
            </a:r>
            <a:endParaRPr lang="zh-CN" altLang="en-US" sz="1400"/>
          </a:p>
          <a:p>
            <a:pPr marL="171450" indent="-171450" algn="l">
              <a:buFont typeface="Arial" panose="020B0704020202020204" pitchFamily="34" charset="0"/>
              <a:buChar char="•"/>
            </a:pPr>
            <a:r>
              <a:rPr lang="zh-CN" altLang="en-US" sz="1400"/>
              <a:t>用户可以复查代码和结果</a:t>
            </a:r>
            <a:endParaRPr lang="zh-CN" altLang="en-US" sz="1400"/>
          </a:p>
          <a:p>
            <a:pPr marL="171450" indent="-171450" algn="l">
              <a:buFont typeface="Arial" panose="020B0704020202020204" pitchFamily="34" charset="0"/>
              <a:buChar char="•"/>
            </a:pPr>
            <a:r>
              <a:rPr lang="zh-CN" altLang="en-US" sz="1400"/>
              <a:t>分析过程具有更强可复现性</a:t>
            </a:r>
            <a:endParaRPr lang="zh-CN" altLang="en-US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bottom bar"/>
          <p:cNvSpPr/>
          <p:nvPr/>
        </p:nvSpPr>
        <p:spPr>
          <a:xfrm>
            <a:off x="502920" y="6565392"/>
            <a:ext cx="11183112" cy="146304"/>
          </a:xfrm>
          <a:prstGeom prst="rect">
            <a:avLst/>
          </a:prstGeom>
          <a:solidFill>
            <a:srgbClr val="2F75B5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66928" y="73152"/>
            <a:ext cx="8961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zh-CN" altLang="en-US" sz="1710" b="1">
                <a:solidFill>
                  <a:srgbClr val="FFFFFF"/>
                </a:solidFill>
                <a:latin typeface="Times New Roman" panose="02020603050405020304"/>
                <a:ea typeface="Microsoft YaHei"/>
                <a:cs typeface="Times New Roman" panose="02020603050405020304"/>
              </a:rPr>
              <a:t>核心设计四：会话记忆与会话隔离</a:t>
            </a:r>
            <a:endParaRPr lang="zh-CN" altLang="en-US" sz="1710" b="1">
              <a:solidFill>
                <a:srgbClr val="FFFFFF"/>
              </a:solidFill>
              <a:latin typeface="Times New Roman" panose="02020603050405020304"/>
              <a:ea typeface="Microsoft YaHei"/>
              <a:cs typeface="Times New Roman" panose="020206030504050203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505200" y="394970"/>
            <a:ext cx="6285865" cy="6046470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en-US" sz="1400"/>
              <a:t>StatBot </a:t>
            </a:r>
            <a:r>
              <a:rPr lang="zh-CN" altLang="en-US" sz="1400"/>
              <a:t>使用</a:t>
            </a:r>
            <a:r>
              <a:rPr lang="en-US" altLang="en-US" sz="1400"/>
              <a:t> SessionState </a:t>
            </a:r>
            <a:r>
              <a:rPr lang="zh-CN" altLang="en-US" sz="1400"/>
              <a:t>维护会话记忆。</a:t>
            </a:r>
            <a:endParaRPr lang="zh-CN" altLang="en-US" sz="1400"/>
          </a:p>
          <a:p>
            <a:endParaRPr lang="en-US" altLang="en-US" sz="1400"/>
          </a:p>
          <a:p>
            <a:r>
              <a:rPr lang="zh-CN" altLang="en-US" sz="1400" b="1">
                <a:latin typeface="Arial Bold" panose="020B0704020202020204" charset="0"/>
              </a:rPr>
              <a:t>记录内容包括：</a:t>
            </a:r>
            <a:endParaRPr lang="en-US" altLang="en-US" sz="1400" b="1">
              <a:latin typeface="Arial Bold" panose="020B0704020202020204" charset="0"/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1400"/>
              <a:t>上传文件列表</a:t>
            </a:r>
            <a:endParaRPr lang="zh-CN" altLang="en-US" sz="14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1400"/>
              <a:t>当前数据集摘要</a:t>
            </a:r>
            <a:endParaRPr lang="zh-CN" altLang="en-US" sz="14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1400"/>
              <a:t>数据行数和列数</a:t>
            </a:r>
            <a:endParaRPr lang="zh-CN" altLang="en-US" sz="14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1400"/>
              <a:t>字段名与缺失值</a:t>
            </a:r>
            <a:endParaRPr lang="zh-CN" altLang="en-US" sz="14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1400"/>
              <a:t>最近用户请求</a:t>
            </a:r>
            <a:endParaRPr lang="zh-CN" altLang="en-US" sz="14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1400"/>
              <a:t>最近统计计划</a:t>
            </a:r>
            <a:endParaRPr lang="zh-CN" altLang="en-US" sz="14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1400"/>
              <a:t>最近选择的统计工具</a:t>
            </a:r>
            <a:endParaRPr lang="zh-CN" altLang="en-US" sz="14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1400"/>
              <a:t>最近成功执行的代码</a:t>
            </a:r>
            <a:endParaRPr lang="zh-CN" altLang="en-US" sz="14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1400"/>
              <a:t>最近执行结果摘要</a:t>
            </a:r>
            <a:endParaRPr lang="zh-CN" altLang="en-US" sz="14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1400"/>
              <a:t>最近错误信息</a:t>
            </a:r>
            <a:endParaRPr lang="zh-CN" altLang="en-US" sz="14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1400"/>
              <a:t>已生成的图像、文件、</a:t>
            </a:r>
            <a:r>
              <a:rPr lang="en-US" altLang="en-US" sz="1400"/>
              <a:t>Notebook </a:t>
            </a:r>
            <a:r>
              <a:rPr lang="zh-CN" altLang="en-US" sz="1400"/>
              <a:t>和报告</a:t>
            </a:r>
            <a:endParaRPr lang="zh-CN" altLang="en-US" sz="1400"/>
          </a:p>
          <a:p>
            <a:endParaRPr lang="zh-CN" altLang="en-US" sz="1400" b="1"/>
          </a:p>
          <a:p>
            <a:r>
              <a:rPr lang="zh-CN" altLang="en-US" sz="1400" b="1"/>
              <a:t>记忆的作用：</a:t>
            </a:r>
            <a:endParaRPr lang="en-US" altLang="en-US" sz="14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1400"/>
              <a:t>支持多轮连续分析</a:t>
            </a:r>
            <a:endParaRPr lang="zh-CN" altLang="en-US" sz="14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1400"/>
              <a:t>让</a:t>
            </a:r>
            <a:r>
              <a:rPr lang="en-US" altLang="en-US" sz="1400"/>
              <a:t> Agent </a:t>
            </a:r>
            <a:r>
              <a:rPr lang="zh-CN" altLang="en-US" sz="1400"/>
              <a:t>知道当前正在分析哪个数据集</a:t>
            </a:r>
            <a:endParaRPr lang="zh-CN" altLang="en-US" sz="14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1400"/>
              <a:t>避免重复读取数据</a:t>
            </a:r>
            <a:endParaRPr lang="zh-CN" altLang="en-US" sz="14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1400"/>
              <a:t>为报告生成提供结构化信息</a:t>
            </a:r>
            <a:endParaRPr lang="zh-CN" altLang="en-US" sz="14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1400"/>
              <a:t>为模型超时</a:t>
            </a:r>
            <a:r>
              <a:rPr lang="en-US" altLang="en-US" sz="1400"/>
              <a:t> fallback </a:t>
            </a:r>
            <a:r>
              <a:rPr lang="zh-CN" altLang="en-US" sz="1400"/>
              <a:t>提供本地依据</a:t>
            </a:r>
            <a:endParaRPr lang="zh-CN" altLang="en-US" sz="1400"/>
          </a:p>
          <a:p>
            <a:endParaRPr lang="zh-CN" altLang="en-US" sz="1400" b="1"/>
          </a:p>
          <a:p>
            <a:r>
              <a:rPr lang="zh-CN" altLang="en-US" sz="1400" b="1"/>
              <a:t>会话隔离：</a:t>
            </a:r>
            <a:endParaRPr lang="en-US" altLang="en-US" sz="14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 altLang="en-US" sz="1400"/>
              <a:t>SessionManager </a:t>
            </a:r>
            <a:r>
              <a:rPr lang="zh-CN" altLang="en-US" sz="1400"/>
              <a:t>根据</a:t>
            </a:r>
            <a:r>
              <a:rPr lang="en-US" altLang="en-US" sz="1400"/>
              <a:t> request.session_hash </a:t>
            </a:r>
            <a:r>
              <a:rPr lang="zh-CN" altLang="en-US" sz="1400"/>
              <a:t>区分不同浏览器会话</a:t>
            </a:r>
            <a:endParaRPr lang="zh-CN" altLang="en-US" sz="14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1400"/>
              <a:t>每个会话拥有独立的</a:t>
            </a:r>
            <a:r>
              <a:rPr lang="en-US" altLang="en-US" sz="1400"/>
              <a:t> StatBot </a:t>
            </a:r>
            <a:r>
              <a:rPr lang="zh-CN" altLang="en-US" sz="1400"/>
              <a:t>实例和</a:t>
            </a:r>
            <a:r>
              <a:rPr lang="en-US" altLang="en-US" sz="1400"/>
              <a:t> Jupyter Kernel</a:t>
            </a:r>
            <a:endParaRPr lang="en-US" altLang="en-US" sz="14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1400"/>
              <a:t>避免一个用户看到另一个用户的代码或数据</a:t>
            </a:r>
            <a:endParaRPr lang="zh-CN" altLang="en-US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bottom bar"/>
          <p:cNvSpPr/>
          <p:nvPr/>
        </p:nvSpPr>
        <p:spPr>
          <a:xfrm>
            <a:off x="502920" y="6565392"/>
            <a:ext cx="11183112" cy="146304"/>
          </a:xfrm>
          <a:prstGeom prst="rect">
            <a:avLst/>
          </a:prstGeom>
          <a:solidFill>
            <a:srgbClr val="2F75B5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66928" y="73152"/>
            <a:ext cx="8961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zh-CN" altLang="en-US" sz="1710" b="1">
                <a:solidFill>
                  <a:srgbClr val="FFFFFF"/>
                </a:solidFill>
                <a:latin typeface="Times New Roman" panose="02020603050405020304"/>
                <a:ea typeface="Microsoft YaHei"/>
                <a:cs typeface="Times New Roman" panose="02020603050405020304"/>
              </a:rPr>
              <a:t>鲁棒性设计：模型超时降级</a:t>
            </a:r>
            <a:endParaRPr lang="zh-CN" altLang="en-US" sz="1710" b="1">
              <a:solidFill>
                <a:srgbClr val="FFFFFF"/>
              </a:solidFill>
              <a:latin typeface="Times New Roman" panose="02020603050405020304"/>
              <a:ea typeface="Microsoft YaHei"/>
              <a:cs typeface="Times New Roman" panose="020206030504050203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85800" y="551180"/>
            <a:ext cx="5434330" cy="6046470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400"/>
              <a:t>在真实使用中，外部</a:t>
            </a:r>
            <a:r>
              <a:rPr lang="en-US" altLang="en-US" sz="1400"/>
              <a:t> LLM API </a:t>
            </a:r>
            <a:r>
              <a:rPr lang="zh-CN" altLang="en-US" sz="1400"/>
              <a:t>可能因为网络、限流或超时而失败。</a:t>
            </a:r>
            <a:endParaRPr lang="zh-CN" altLang="en-US" sz="1400"/>
          </a:p>
          <a:p>
            <a:r>
              <a:rPr lang="zh-CN" altLang="en-US" sz="1400"/>
              <a:t>如果分析代码已经执行成功，但最后一步结果解释失败，用户会误以为整个任务失败。</a:t>
            </a:r>
            <a:endParaRPr lang="zh-CN" altLang="en-US" sz="1400"/>
          </a:p>
          <a:p>
            <a:endParaRPr lang="en-US" altLang="en-US" sz="1400"/>
          </a:p>
          <a:p>
            <a:r>
              <a:rPr lang="en-US" altLang="en-US" sz="1400"/>
              <a:t>StatBot </a:t>
            </a:r>
            <a:r>
              <a:rPr lang="zh-CN" altLang="en-US" sz="1400"/>
              <a:t>的解决方案：</a:t>
            </a:r>
            <a:endParaRPr lang="zh-CN" altLang="en-US" sz="1400"/>
          </a:p>
          <a:p>
            <a:endParaRPr lang="en-US" altLang="en-US" sz="1400"/>
          </a:p>
          <a:p>
            <a:pPr marL="342900" indent="-342900">
              <a:buAutoNum type="arabicPeriod"/>
            </a:pPr>
            <a:r>
              <a:rPr lang="zh-CN" altLang="en-US" sz="1400"/>
              <a:t>代码执行与结果解释分离</a:t>
            </a:r>
            <a:endParaRPr lang="zh-CN" altLang="en-US" sz="1400"/>
          </a:p>
          <a:p>
            <a:pPr lvl="1" indent="0">
              <a:buNone/>
            </a:pPr>
            <a:r>
              <a:rPr lang="zh-CN" altLang="en-US" sz="1400"/>
              <a:t>即使模型解释失败，</a:t>
            </a:r>
            <a:r>
              <a:rPr lang="en-US" altLang="en-US" sz="1400"/>
              <a:t>Jupyter </a:t>
            </a:r>
            <a:r>
              <a:rPr lang="zh-CN" altLang="en-US" sz="1400"/>
              <a:t>执行结果仍然正常展示。</a:t>
            </a:r>
            <a:endParaRPr lang="zh-CN" altLang="en-US" sz="1400"/>
          </a:p>
          <a:p>
            <a:pPr marL="342900" indent="-342900">
              <a:buAutoNum type="arabicPeriod"/>
            </a:pPr>
            <a:endParaRPr lang="en-US" altLang="en-US" sz="1400"/>
          </a:p>
          <a:p>
            <a:pPr marL="342900" indent="-342900">
              <a:buAutoNum type="arabicPeriod"/>
            </a:pPr>
            <a:r>
              <a:rPr lang="zh-CN" altLang="en-US" sz="1400"/>
              <a:t>本地</a:t>
            </a:r>
            <a:r>
              <a:rPr lang="en-US" altLang="en-US" sz="1400"/>
              <a:t> fallback summary</a:t>
            </a:r>
            <a:endParaRPr lang="en-US" altLang="en-US" sz="1400"/>
          </a:p>
          <a:p>
            <a:pPr lvl="1" indent="0">
              <a:buNone/>
            </a:pPr>
            <a:r>
              <a:rPr lang="zh-CN" altLang="en-US" sz="1400"/>
              <a:t>当结果解释模型超时时，系统基于执行输出生成本地摘要。</a:t>
            </a:r>
            <a:endParaRPr lang="zh-CN" altLang="en-US" sz="1400"/>
          </a:p>
          <a:p>
            <a:pPr marL="342900" indent="-342900">
              <a:buAutoNum type="arabicPeriod"/>
            </a:pPr>
            <a:endParaRPr lang="en-US" altLang="en-US" sz="1400"/>
          </a:p>
          <a:p>
            <a:pPr marL="342900" indent="-342900">
              <a:buAutoNum type="arabicPeriod"/>
            </a:pPr>
            <a:r>
              <a:rPr lang="zh-CN" altLang="en-US" sz="1400"/>
              <a:t>本地</a:t>
            </a:r>
            <a:r>
              <a:rPr lang="en-US" altLang="en-US" sz="1400"/>
              <a:t> fallback report</a:t>
            </a:r>
            <a:endParaRPr lang="en-US" altLang="en-US" sz="1400"/>
          </a:p>
          <a:p>
            <a:pPr lvl="1" indent="0">
              <a:buNone/>
            </a:pPr>
            <a:r>
              <a:rPr lang="zh-CN" altLang="en-US" sz="1400"/>
              <a:t>当报告生成模型超时时，系统基于</a:t>
            </a:r>
            <a:r>
              <a:rPr lang="en-US" altLang="en-US" sz="1400"/>
              <a:t> SessionState </a:t>
            </a:r>
            <a:r>
              <a:rPr lang="zh-CN" altLang="en-US" sz="1400"/>
              <a:t>生成确定性的</a:t>
            </a:r>
            <a:r>
              <a:rPr lang="en-US" altLang="en-US" sz="1400"/>
              <a:t> Markdown </a:t>
            </a:r>
            <a:r>
              <a:rPr lang="zh-CN" altLang="en-US" sz="1400"/>
              <a:t>报告。</a:t>
            </a:r>
            <a:endParaRPr lang="zh-CN" altLang="en-US" sz="1400"/>
          </a:p>
          <a:p>
            <a:pPr marL="342900" indent="-342900">
              <a:buAutoNum type="arabicPeriod"/>
            </a:pPr>
            <a:endParaRPr lang="en-US" altLang="en-US" sz="1400"/>
          </a:p>
          <a:p>
            <a:pPr marL="342900" indent="-342900">
              <a:buAutoNum type="arabicPeriod"/>
            </a:pPr>
            <a:r>
              <a:rPr lang="zh-CN" altLang="en-US" sz="1400"/>
              <a:t>保留后续操作建议</a:t>
            </a:r>
            <a:endParaRPr lang="zh-CN" altLang="en-US" sz="1400"/>
          </a:p>
          <a:p>
            <a:pPr lvl="1" indent="0">
              <a:buNone/>
            </a:pPr>
            <a:r>
              <a:rPr lang="zh-CN" altLang="en-US" sz="1400"/>
              <a:t>即使降级，系统仍会提示用户查看结果、重试解释或编辑代码。</a:t>
            </a:r>
            <a:endParaRPr lang="zh-CN" altLang="en-US" sz="1400"/>
          </a:p>
        </p:txBody>
      </p:sp>
      <p:pic>
        <p:nvPicPr>
          <p:cNvPr id="6" name="Picture 5" descr="Screenshot 2026-06-05 at 22.49.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8400" y="660400"/>
            <a:ext cx="5845810" cy="36696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  <p:sp>
        <p:nvSpPr>
          <p:cNvPr id="3" name="bottom bar"/>
          <p:cNvSpPr/>
          <p:nvPr/>
        </p:nvSpPr>
        <p:spPr>
          <a:xfrm>
            <a:off x="502920" y="6565392"/>
            <a:ext cx="11183112" cy="146304"/>
          </a:xfrm>
          <a:prstGeom prst="rect">
            <a:avLst/>
          </a:prstGeom>
          <a:solidFill>
            <a:srgbClr val="2F75B5"/>
          </a:solidFill>
          <a:ln>
            <a:noFill/>
          </a:ln>
        </p:spPr>
      </p:sp>
      <p:sp>
        <p:nvSpPr>
          <p:cNvPr id="4" name="section"/>
          <p:cNvSpPr/>
          <p:nvPr/>
        </p:nvSpPr>
        <p:spPr>
          <a:xfrm>
            <a:off x="566928" y="73152"/>
            <a:ext cx="89611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/>
          <a:p>
            <a:pPr algn="l"/>
            <a:r>
              <a:rPr lang="zh-CN" altLang="en-US" sz="1710" b="1">
                <a:solidFill>
                  <a:srgbClr val="FFFFFF"/>
                </a:solidFill>
                <a:latin typeface="Times New Roman" panose="02020603050405020304"/>
                <a:ea typeface="Microsoft YaHei"/>
                <a:cs typeface="Times New Roman" panose="02020603050405020304"/>
              </a:rPr>
              <a:t>系统成果</a:t>
            </a:r>
            <a:endParaRPr lang="zh-CN" altLang="en-US" sz="1710" b="1">
              <a:solidFill>
                <a:srgbClr val="FFFFFF"/>
              </a:solidFill>
              <a:latin typeface="Times New Roman" panose="02020603050405020304"/>
              <a:ea typeface="Microsoft YaHei"/>
              <a:cs typeface="Times New Roman" panose="020206030504050203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505200" y="521970"/>
            <a:ext cx="7994650" cy="6046470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600" b="1"/>
              <a:t>自主决策与规划能力</a:t>
            </a:r>
            <a:endParaRPr lang="zh-CN" altLang="en-US" sz="1600" b="1"/>
          </a:p>
          <a:p>
            <a:endParaRPr lang="en-US" altLang="en-US" sz="16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1600"/>
              <a:t>自动生成统计分析计划</a:t>
            </a:r>
            <a:endParaRPr lang="zh-CN" altLang="en-US" sz="16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1600"/>
              <a:t>根据用户问题和数据类型选择分析路径</a:t>
            </a:r>
            <a:endParaRPr lang="zh-CN" altLang="en-US" sz="1600"/>
          </a:p>
          <a:p>
            <a:pPr marL="285750" indent="-285750">
              <a:buFont typeface="Arial" panose="020B0704020202020204" pitchFamily="34" charset="0"/>
              <a:buChar char="•"/>
            </a:pPr>
            <a:endParaRPr lang="zh-CN" altLang="en-US" sz="1600"/>
          </a:p>
          <a:p>
            <a:pPr indent="0">
              <a:buFont typeface="Arial" panose="020B0704020202020204" pitchFamily="34" charset="0"/>
              <a:buNone/>
            </a:pPr>
            <a:r>
              <a:rPr lang="zh-CN" altLang="en-US" sz="1600" b="1"/>
              <a:t>工具调用与环境交互能力</a:t>
            </a:r>
            <a:endParaRPr lang="zh-CN" altLang="en-US" sz="1600" b="1"/>
          </a:p>
          <a:p>
            <a:endParaRPr lang="en-US" altLang="en-US" sz="16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1600"/>
              <a:t>调用文件上传与缓存系统</a:t>
            </a:r>
            <a:endParaRPr lang="zh-CN" altLang="en-US" sz="16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1600"/>
              <a:t>调用</a:t>
            </a:r>
            <a:r>
              <a:rPr lang="en-US" altLang="en-US" sz="1600"/>
              <a:t> Jupyter Kernel </a:t>
            </a:r>
            <a:r>
              <a:rPr lang="zh-CN" altLang="en-US" sz="1600"/>
              <a:t>执行</a:t>
            </a:r>
            <a:r>
              <a:rPr lang="en-US" altLang="en-US" sz="1600"/>
              <a:t> Python </a:t>
            </a:r>
            <a:r>
              <a:rPr lang="zh-CN" altLang="en-US" sz="1600"/>
              <a:t>代码</a:t>
            </a:r>
            <a:endParaRPr lang="zh-CN" altLang="en-US" sz="16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1600"/>
              <a:t>生成图表、</a:t>
            </a:r>
            <a:r>
              <a:rPr lang="en-US" altLang="en-US" sz="1600"/>
              <a:t>Notebook </a:t>
            </a:r>
            <a:r>
              <a:rPr lang="zh-CN" altLang="en-US" sz="1600"/>
              <a:t>和</a:t>
            </a:r>
            <a:r>
              <a:rPr lang="en-US" altLang="en-US" sz="1600"/>
              <a:t> Markdown </a:t>
            </a:r>
            <a:r>
              <a:rPr lang="zh-CN" altLang="en-US" sz="1600"/>
              <a:t>报告</a:t>
            </a:r>
            <a:endParaRPr lang="zh-CN" altLang="en-US" sz="1600"/>
          </a:p>
          <a:p>
            <a:pPr marL="285750" indent="-285750">
              <a:buFont typeface="Arial" panose="020B0704020202020204" pitchFamily="34" charset="0"/>
              <a:buChar char="•"/>
            </a:pPr>
            <a:endParaRPr lang="zh-CN" altLang="en-US" sz="1600"/>
          </a:p>
          <a:p>
            <a:pPr indent="0">
              <a:buFont typeface="Arial" panose="020B0704020202020204" pitchFamily="34" charset="0"/>
              <a:buNone/>
            </a:pPr>
            <a:r>
              <a:rPr lang="zh-CN" altLang="en-US" sz="1600" b="1"/>
              <a:t>记忆与上下文管理能力</a:t>
            </a:r>
            <a:endParaRPr lang="zh-CN" altLang="en-US" sz="1600" b="1"/>
          </a:p>
          <a:p>
            <a:endParaRPr lang="en-US" altLang="en-US" sz="16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1600"/>
              <a:t>使用</a:t>
            </a:r>
            <a:r>
              <a:rPr lang="en-US" altLang="en-US" sz="1600"/>
              <a:t> SessionState </a:t>
            </a:r>
            <a:r>
              <a:rPr lang="zh-CN" altLang="en-US" sz="1600"/>
              <a:t>保存数据摘要、请求历史、工具选择和执行结果</a:t>
            </a:r>
            <a:endParaRPr lang="zh-CN" altLang="en-US" sz="16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1600"/>
              <a:t>支持多轮连续分析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多步骤任务执行能力</a:t>
            </a:r>
            <a:endParaRPr lang="zh-CN" altLang="en-US" sz="1600" b="1"/>
          </a:p>
          <a:p>
            <a:endParaRPr lang="en-US" altLang="en-US" sz="1600"/>
          </a:p>
          <a:p>
            <a:r>
              <a:rPr lang="zh-CN" altLang="en-US" sz="1600"/>
              <a:t>完成</a:t>
            </a:r>
            <a:r>
              <a:rPr lang="en-US" altLang="en-US" sz="1600"/>
              <a:t>“</a:t>
            </a:r>
            <a:r>
              <a:rPr lang="zh-CN" altLang="en-US" sz="1600"/>
              <a:t>上传数据</a:t>
            </a:r>
            <a:r>
              <a:rPr lang="en-US" altLang="en-US" sz="1600"/>
              <a:t> -&gt; </a:t>
            </a:r>
            <a:r>
              <a:rPr lang="zh-CN" altLang="en-US" sz="1600"/>
              <a:t>规划</a:t>
            </a:r>
            <a:r>
              <a:rPr lang="en-US" altLang="en-US" sz="1600"/>
              <a:t> -&gt; </a:t>
            </a:r>
            <a:r>
              <a:rPr lang="zh-CN" altLang="en-US" sz="1600"/>
              <a:t>工具选择</a:t>
            </a:r>
            <a:r>
              <a:rPr lang="en-US" altLang="en-US" sz="1600"/>
              <a:t> -&gt; </a:t>
            </a:r>
            <a:r>
              <a:rPr lang="zh-CN" altLang="en-US" sz="1600"/>
              <a:t>执行代码</a:t>
            </a:r>
            <a:r>
              <a:rPr lang="en-US" altLang="en-US" sz="1600"/>
              <a:t> -&gt; </a:t>
            </a:r>
            <a:r>
              <a:rPr lang="zh-CN" altLang="en-US" sz="1600"/>
              <a:t>修复错误</a:t>
            </a:r>
            <a:r>
              <a:rPr lang="en-US" altLang="en-US" sz="1600"/>
              <a:t> -&gt; </a:t>
            </a:r>
            <a:r>
              <a:rPr lang="zh-CN" altLang="en-US" sz="1600"/>
              <a:t>解释结果</a:t>
            </a:r>
            <a:r>
              <a:rPr lang="en-US" altLang="en-US" sz="1600"/>
              <a:t> -&gt; </a:t>
            </a:r>
            <a:r>
              <a:rPr lang="zh-CN" altLang="en-US" sz="1600"/>
              <a:t>导出报告</a:t>
            </a:r>
            <a:r>
              <a:rPr lang="en-US" altLang="en-US" sz="1600"/>
              <a:t>”</a:t>
            </a:r>
            <a:r>
              <a:rPr lang="zh-CN" altLang="en-US" sz="1600"/>
              <a:t>的完整流程</a:t>
            </a:r>
            <a:endParaRPr lang="zh-CN" altLang="en-US" sz="160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idescreenPresentation16x9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3462</Words>
  <Application>WPS Presentation</Application>
  <PresentationFormat>宽屏</PresentationFormat>
  <Paragraphs>284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40" baseType="lpstr">
      <vt:lpstr>Arial</vt:lpstr>
      <vt:lpstr>SimSun</vt:lpstr>
      <vt:lpstr>Wingdings</vt:lpstr>
      <vt:lpstr>Wingdings</vt:lpstr>
      <vt:lpstr>Wingdings 2</vt:lpstr>
      <vt:lpstr>Times New Roman</vt:lpstr>
      <vt:lpstr>Microsoft YaHei</vt:lpstr>
      <vt:lpstr>汉仪旗黑</vt:lpstr>
      <vt:lpstr>DejaVu Math TeX Gyre</vt:lpstr>
      <vt:lpstr>SimSun</vt:lpstr>
      <vt:lpstr>Tw Cen MT</vt:lpstr>
      <vt:lpstr>苹方-简</vt:lpstr>
      <vt:lpstr>Microsoft YaHei</vt:lpstr>
      <vt:lpstr>Arial Unicode MS</vt:lpstr>
      <vt:lpstr>等线</vt:lpstr>
      <vt:lpstr>汉仪中等线KW</vt:lpstr>
      <vt:lpstr>华文仿宋</vt:lpstr>
      <vt:lpstr>方正仿宋_GBK</vt:lpstr>
      <vt:lpstr>Calibri</vt:lpstr>
      <vt:lpstr>Helvetica Neue</vt:lpstr>
      <vt:lpstr>汉仪书宋二KW</vt:lpstr>
      <vt:lpstr>Microsoft YaHei</vt:lpstr>
      <vt:lpstr>Times New Roman</vt:lpstr>
      <vt:lpstr>-apple-system</vt:lpstr>
      <vt:lpstr>Thonburi</vt:lpstr>
      <vt:lpstr>SimSun</vt:lpstr>
      <vt:lpstr>Arial</vt:lpstr>
      <vt:lpstr>Arial Bold</vt:lpstr>
      <vt:lpstr>WidescreenPresentation16x9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DKL</cp:lastModifiedBy>
  <cp:revision>38</cp:revision>
  <dcterms:created xsi:type="dcterms:W3CDTF">2026-06-05T14:54:17Z</dcterms:created>
  <dcterms:modified xsi:type="dcterms:W3CDTF">2026-06-05T14:54:17Z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2052</vt:i4>
  </property>
  <property fmtid="{D5CDD505-2E9C-101B-9397-08002B2CF9AE}" pid="3" name="_Version">
    <vt:lpwstr>12.0.4518</vt:lpwstr>
  </property>
  <property fmtid="{D5CDD505-2E9C-101B-9397-08002B2CF9AE}" pid="4" name="ICV">
    <vt:lpwstr>4669B2A91D4F44D8F944DE69779F3982_43</vt:lpwstr>
  </property>
  <property fmtid="{D5CDD505-2E9C-101B-9397-08002B2CF9AE}" pid="5" name="KSOProductBuildVer">
    <vt:lpwstr>1033-12.1.23540.23540</vt:lpwstr>
  </property>
</Properties>
</file>